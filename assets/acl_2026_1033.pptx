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sldIdLst>
    <p:sldId id="256" r:id="rId2"/>
  </p:sldIdLst>
  <p:sldSz cx="32918400" cy="42976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8D4"/>
    <a:srgbClr val="8661C5"/>
    <a:srgbClr val="8625C5"/>
    <a:srgbClr val="FFA38B"/>
    <a:srgbClr val="D59ED7"/>
    <a:srgbClr val="2A446F"/>
    <a:srgbClr val="8DC8E8"/>
    <a:srgbClr val="46B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10" d="100"/>
          <a:sy n="10" d="100"/>
        </p:scale>
        <p:origin x="1248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79E3E8-C7E5-4DC9-82CC-248824800A94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46313" y="1143000"/>
            <a:ext cx="2365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04DD16-4A55-4E01-8575-C2E0732B1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19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46313" y="1143000"/>
            <a:ext cx="23653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4DD16-4A55-4E01-8575-C2E0732B141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2299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7033475"/>
            <a:ext cx="27980640" cy="14962293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2572771"/>
            <a:ext cx="24688800" cy="10376109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C202-98B9-4069-9EDB-536D05431F13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362B8-E082-4244-96B1-21FD11A8F2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029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C202-98B9-4069-9EDB-536D05431F13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362B8-E082-4244-96B1-21FD11A8F2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738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10714367"/>
            <a:ext cx="28392120" cy="17877152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8760644"/>
            <a:ext cx="28392120" cy="9401172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82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C202-98B9-4069-9EDB-536D05431F13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362B8-E082-4244-96B1-21FD11A8F2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375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1440583"/>
            <a:ext cx="13990320" cy="272683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1440583"/>
            <a:ext cx="13990320" cy="272683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C202-98B9-4069-9EDB-536D05431F13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362B8-E082-4244-96B1-21FD11A8F2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8532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288126"/>
            <a:ext cx="28392120" cy="83068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10535288"/>
            <a:ext cx="13926024" cy="5163182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5698470"/>
            <a:ext cx="13926024" cy="230900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10535288"/>
            <a:ext cx="13994608" cy="5163182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5698470"/>
            <a:ext cx="13994608" cy="230900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C202-98B9-4069-9EDB-536D05431F13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362B8-E082-4244-96B1-21FD11A8F2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5792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C202-98B9-4069-9EDB-536D05431F13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362B8-E082-4244-96B1-21FD11A8F2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3072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C202-98B9-4069-9EDB-536D05431F13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362B8-E082-4244-96B1-21FD11A8F2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9420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865120"/>
            <a:ext cx="10617041" cy="1002792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6187873"/>
            <a:ext cx="16664940" cy="30541383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2893040"/>
            <a:ext cx="10617041" cy="23885951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C202-98B9-4069-9EDB-536D05431F13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362B8-E082-4244-96B1-21FD11A8F2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130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865120"/>
            <a:ext cx="10617041" cy="1002792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6187873"/>
            <a:ext cx="16664940" cy="30541383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2893040"/>
            <a:ext cx="10617041" cy="23885951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C202-98B9-4069-9EDB-536D05431F13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362B8-E082-4244-96B1-21FD11A8F2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7827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C202-98B9-4069-9EDB-536D05431F13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362B8-E082-4244-96B1-21FD11A8F2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927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2288117"/>
            <a:ext cx="7098030" cy="3642085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2288117"/>
            <a:ext cx="20882610" cy="3642085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1C202-98B9-4069-9EDB-536D05431F13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362B8-E082-4244-96B1-21FD11A8F2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5227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288126"/>
            <a:ext cx="28392120" cy="83068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1440583"/>
            <a:ext cx="28392120" cy="27268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39833136"/>
            <a:ext cx="7406640" cy="2288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C1C202-98B9-4069-9EDB-536D05431F13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39833136"/>
            <a:ext cx="11109960" cy="2288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39833136"/>
            <a:ext cx="7406640" cy="2288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E362B8-E082-4244-96B1-21FD11A8F2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0991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25">
            <a:extLst>
              <a:ext uri="{FF2B5EF4-FFF2-40B4-BE49-F238E27FC236}">
                <a16:creationId xmlns:a16="http://schemas.microsoft.com/office/drawing/2014/main" id="{8E99BC96-8B1B-8D17-228F-9C071EE2C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1461" y="36407633"/>
            <a:ext cx="4914662" cy="2474278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A56F2C3F-0868-91E0-75B0-F4B2E3340260}"/>
              </a:ext>
            </a:extLst>
          </p:cNvPr>
          <p:cNvSpPr/>
          <p:nvPr/>
        </p:nvSpPr>
        <p:spPr>
          <a:xfrm>
            <a:off x="22196899" y="34002634"/>
            <a:ext cx="10429050" cy="26339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615"/>
              </a:lnSpc>
              <a:spcAft>
                <a:spcPts val="692"/>
              </a:spcAft>
            </a:pPr>
            <a:endParaRPr lang="en-GB" sz="615" dirty="0">
              <a:solidFill>
                <a:schemeClr val="bg1"/>
              </a:solidFill>
              <a:latin typeface="Segoe Pro Semibold" panose="020B0702040504020203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3B70619-0EE3-7A1D-3B47-318B2B758547}"/>
              </a:ext>
            </a:extLst>
          </p:cNvPr>
          <p:cNvSpPr/>
          <p:nvPr/>
        </p:nvSpPr>
        <p:spPr>
          <a:xfrm>
            <a:off x="153731" y="15191632"/>
            <a:ext cx="9971171" cy="8186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615"/>
              </a:lnSpc>
              <a:spcAft>
                <a:spcPts val="692"/>
              </a:spcAft>
            </a:pPr>
            <a:endParaRPr lang="en-GB" sz="615" dirty="0">
              <a:solidFill>
                <a:schemeClr val="bg1"/>
              </a:solidFill>
              <a:latin typeface="Segoe Pro Semibold" panose="020B07020405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B8B5C6-3710-74F1-6BCE-9CC61927EDB2}"/>
              </a:ext>
            </a:extLst>
          </p:cNvPr>
          <p:cNvSpPr/>
          <p:nvPr/>
        </p:nvSpPr>
        <p:spPr>
          <a:xfrm>
            <a:off x="10951501" y="21548633"/>
            <a:ext cx="10529479" cy="1661061"/>
          </a:xfrm>
          <a:prstGeom prst="rect">
            <a:avLst/>
          </a:prstGeom>
          <a:solidFill>
            <a:srgbClr val="8661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85" dirty="0">
              <a:latin typeface="Segoe Pro" panose="020B0502040504020203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30F094D-6E63-54C8-7CFA-B6348129AD8D}"/>
              </a:ext>
            </a:extLst>
          </p:cNvPr>
          <p:cNvSpPr/>
          <p:nvPr/>
        </p:nvSpPr>
        <p:spPr>
          <a:xfrm>
            <a:off x="10958491" y="21566675"/>
            <a:ext cx="1628866" cy="1643019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85" dirty="0">
              <a:latin typeface="Segoe Pro" panose="020B05020405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C3237E-0670-77B9-AF78-7F20B3F8C45D}"/>
              </a:ext>
            </a:extLst>
          </p:cNvPr>
          <p:cNvSpPr/>
          <p:nvPr/>
        </p:nvSpPr>
        <p:spPr>
          <a:xfrm>
            <a:off x="269987" y="16842039"/>
            <a:ext cx="10395417" cy="1737281"/>
          </a:xfrm>
          <a:prstGeom prst="rect">
            <a:avLst/>
          </a:prstGeom>
          <a:solidFill>
            <a:srgbClr val="8661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85" dirty="0">
              <a:latin typeface="Segoe Pro" panose="020B0502040504020203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774BA91-7B56-2BEE-C731-9CE8F443611D}"/>
              </a:ext>
            </a:extLst>
          </p:cNvPr>
          <p:cNvSpPr/>
          <p:nvPr/>
        </p:nvSpPr>
        <p:spPr>
          <a:xfrm>
            <a:off x="278002" y="16853951"/>
            <a:ext cx="1628866" cy="1673268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85" dirty="0">
              <a:latin typeface="Segoe Pro" panose="020B050204050402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88C1DE-EED3-5786-E440-A13501FDDDFC}"/>
              </a:ext>
            </a:extLst>
          </p:cNvPr>
          <p:cNvSpPr/>
          <p:nvPr/>
        </p:nvSpPr>
        <p:spPr>
          <a:xfrm>
            <a:off x="187567" y="4762174"/>
            <a:ext cx="10405481" cy="1705875"/>
          </a:xfrm>
          <a:prstGeom prst="rect">
            <a:avLst/>
          </a:prstGeom>
          <a:solidFill>
            <a:srgbClr val="8661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85" dirty="0">
              <a:latin typeface="Segoe Pro" panose="020B0502040504020203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734F415-595D-1F07-B75A-069F2E792CB9}"/>
              </a:ext>
            </a:extLst>
          </p:cNvPr>
          <p:cNvSpPr/>
          <p:nvPr/>
        </p:nvSpPr>
        <p:spPr>
          <a:xfrm>
            <a:off x="24263" y="-68283"/>
            <a:ext cx="32918400" cy="42733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1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4983C79-A6C6-8B49-A5B9-A87F110E9FD6}"/>
              </a:ext>
            </a:extLst>
          </p:cNvPr>
          <p:cNvSpPr/>
          <p:nvPr/>
        </p:nvSpPr>
        <p:spPr>
          <a:xfrm>
            <a:off x="24263" y="-41129"/>
            <a:ext cx="19703917" cy="30184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615"/>
              </a:lnSpc>
              <a:spcAft>
                <a:spcPts val="692"/>
              </a:spcAft>
            </a:pPr>
            <a:endParaRPr lang="en-GB" sz="615" dirty="0">
              <a:solidFill>
                <a:schemeClr val="bg1"/>
              </a:solidFill>
              <a:latin typeface="Segoe Pro Semibold" panose="020B0702040504020203" pitchFamily="34" charset="0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57A3C80-0F9C-BF55-1A18-47C08219C1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511959"/>
            <a:ext cx="32918400" cy="142927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E389B9-FBB5-EF4E-3ACA-F4950F09F137}"/>
              </a:ext>
            </a:extLst>
          </p:cNvPr>
          <p:cNvSpPr txBox="1"/>
          <p:nvPr/>
        </p:nvSpPr>
        <p:spPr>
          <a:xfrm>
            <a:off x="759882" y="326639"/>
            <a:ext cx="217154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>
                <a:solidFill>
                  <a:schemeClr val="bg1"/>
                </a:solidFill>
                <a:latin typeface="Segoe Pro Semibold" panose="020B0702040504020203" pitchFamily="34" charset="0"/>
              </a:rPr>
              <a:t>The Thin Line Between Comprehension and Persuasion in LLMs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EC0511-132F-7AF2-0110-DE5E3D4A9FB0}"/>
              </a:ext>
            </a:extLst>
          </p:cNvPr>
          <p:cNvSpPr txBox="1"/>
          <p:nvPr/>
        </p:nvSpPr>
        <p:spPr>
          <a:xfrm>
            <a:off x="344754" y="3296800"/>
            <a:ext cx="22613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latin typeface="Segoe Pro" panose="020B0502040504020203" pitchFamily="34" charset="0"/>
              </a:rPr>
              <a:t>Adrian de Wynter¹</a:t>
            </a:r>
            <a:r>
              <a:rPr lang="en-GB" sz="3600" baseline="30000" dirty="0">
                <a:latin typeface="Segoe Pro" panose="020B0502040504020203" pitchFamily="34" charset="0"/>
              </a:rPr>
              <a:t>,2</a:t>
            </a:r>
            <a:r>
              <a:rPr lang="en-GB" sz="3600" dirty="0">
                <a:latin typeface="Segoe Pro" panose="020B0502040504020203" pitchFamily="34" charset="0"/>
              </a:rPr>
              <a:t> and </a:t>
            </a:r>
            <a:r>
              <a:rPr lang="en-GB" sz="3600" dirty="0" err="1">
                <a:latin typeface="Segoe Pro" panose="020B0502040504020203" pitchFamily="34" charset="0"/>
              </a:rPr>
              <a:t>Tangming</a:t>
            </a:r>
            <a:r>
              <a:rPr lang="en-GB" sz="3600" dirty="0">
                <a:latin typeface="Segoe Pro" panose="020B0502040504020203" pitchFamily="34" charset="0"/>
              </a:rPr>
              <a:t> Yuan</a:t>
            </a:r>
            <a:r>
              <a:rPr lang="en-GB" sz="3600" baseline="30000" dirty="0">
                <a:latin typeface="Segoe Pro" panose="020B0502040504020203" pitchFamily="34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0F28B6-4EA1-CB20-337C-C0663E8FA3A5}"/>
              </a:ext>
            </a:extLst>
          </p:cNvPr>
          <p:cNvSpPr txBox="1"/>
          <p:nvPr/>
        </p:nvSpPr>
        <p:spPr>
          <a:xfrm>
            <a:off x="26308208" y="3314100"/>
            <a:ext cx="8203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Segoe Pro" panose="020B0502040504020203" pitchFamily="34" charset="0"/>
              </a:rPr>
              <a:t>¹Microsoft  </a:t>
            </a:r>
            <a:r>
              <a:rPr lang="en-GB" sz="3200" baseline="30000" dirty="0">
                <a:latin typeface="Segoe Pro" panose="020B0502040504020203" pitchFamily="34" charset="0"/>
              </a:rPr>
              <a:t>2</a:t>
            </a:r>
            <a:r>
              <a:rPr lang="en-GB" sz="3200" dirty="0">
                <a:latin typeface="Segoe Pro" panose="020B0502040504020203" pitchFamily="34" charset="0"/>
              </a:rPr>
              <a:t>The University of York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D78C3B-C35A-4AD2-6554-7CA393B2F0D6}"/>
              </a:ext>
            </a:extLst>
          </p:cNvPr>
          <p:cNvSpPr txBox="1"/>
          <p:nvPr/>
        </p:nvSpPr>
        <p:spPr>
          <a:xfrm>
            <a:off x="2151255" y="5653009"/>
            <a:ext cx="8103585" cy="439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15"/>
              </a:lnSpc>
              <a:spcAft>
                <a:spcPts val="692"/>
              </a:spcAft>
            </a:pPr>
            <a:r>
              <a:rPr lang="en-GB" sz="6000" b="1" dirty="0">
                <a:solidFill>
                  <a:schemeClr val="bg1"/>
                </a:solidFill>
                <a:latin typeface="Segoe Pro" panose="020B0502040504020203" pitchFamily="34" charset="0"/>
              </a:rPr>
              <a:t>Problem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DA2BBD-07D5-3149-7D00-60B83B4F10E8}"/>
              </a:ext>
            </a:extLst>
          </p:cNvPr>
          <p:cNvSpPr txBox="1"/>
          <p:nvPr/>
        </p:nvSpPr>
        <p:spPr>
          <a:xfrm>
            <a:off x="213952" y="6981306"/>
            <a:ext cx="10350267" cy="905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92"/>
              </a:spcAft>
            </a:pPr>
            <a:r>
              <a:rPr lang="en-US" sz="4800" b="1" dirty="0">
                <a:latin typeface="Segoe Pro" panose="020B0502040504020203" pitchFamily="34" charset="0"/>
              </a:rPr>
              <a:t>Do LLMs understand what it is being talked about?</a:t>
            </a:r>
            <a:br>
              <a:rPr lang="en-US" sz="4800" b="1" dirty="0">
                <a:latin typeface="Segoe Pro" panose="020B0502040504020203" pitchFamily="34" charset="0"/>
              </a:rPr>
            </a:br>
            <a:r>
              <a:rPr lang="en-US" sz="4800" dirty="0">
                <a:latin typeface="Segoe Pro" panose="020B0502040504020203" pitchFamily="34" charset="0"/>
              </a:rPr>
              <a:t>There’s a lot of opinions on that, explicitly or implicitly.</a:t>
            </a:r>
          </a:p>
          <a:p>
            <a:pPr>
              <a:spcAft>
                <a:spcPts val="300"/>
              </a:spcAft>
            </a:pPr>
            <a:endParaRPr lang="en-US" sz="1600" dirty="0">
              <a:latin typeface="Segoe Pro" panose="020B0502040504020203" pitchFamily="34" charset="0"/>
            </a:endParaRPr>
          </a:p>
          <a:p>
            <a:pPr>
              <a:spcAft>
                <a:spcPts val="692"/>
              </a:spcAft>
            </a:pPr>
            <a:r>
              <a:rPr lang="en-US" sz="4800" dirty="0">
                <a:latin typeface="Segoe Pro" panose="020B0502040504020203" pitchFamily="34" charset="0"/>
              </a:rPr>
              <a:t>This is </a:t>
            </a:r>
            <a:r>
              <a:rPr lang="en-US" sz="4800" b="1" dirty="0">
                <a:latin typeface="Segoe Pro" panose="020B0502040504020203" pitchFamily="34" charset="0"/>
              </a:rPr>
              <a:t>important</a:t>
            </a:r>
            <a:r>
              <a:rPr lang="en-US" sz="4800" dirty="0">
                <a:latin typeface="Segoe Pro" panose="020B0502040504020203" pitchFamily="34" charset="0"/>
              </a:rPr>
              <a:t>: if LLMs are deployed in safety-critical applications, </a:t>
            </a:r>
            <a:r>
              <a:rPr lang="en-US" sz="4800" i="1" dirty="0">
                <a:latin typeface="Segoe Pro" panose="020B0502040504020203" pitchFamily="34" charset="0"/>
              </a:rPr>
              <a:t>knowing </a:t>
            </a:r>
            <a:r>
              <a:rPr lang="en-US" sz="4800" dirty="0">
                <a:latin typeface="Segoe Pro" panose="020B0502040504020203" pitchFamily="34" charset="0"/>
              </a:rPr>
              <a:t>whether they understand is important.</a:t>
            </a:r>
          </a:p>
          <a:p>
            <a:pPr>
              <a:spcAft>
                <a:spcPts val="300"/>
              </a:spcAft>
            </a:pPr>
            <a:endParaRPr lang="en-US" sz="1600" dirty="0">
              <a:latin typeface="Segoe Pro" panose="020B0502040504020203" pitchFamily="34" charset="0"/>
            </a:endParaRPr>
          </a:p>
          <a:p>
            <a:pPr>
              <a:spcAft>
                <a:spcPts val="692"/>
              </a:spcAft>
            </a:pPr>
            <a:r>
              <a:rPr lang="en-GB" sz="4800" dirty="0">
                <a:latin typeface="Segoe Pro" panose="020B0502040504020203" pitchFamily="34" charset="0"/>
              </a:rPr>
              <a:t>Rather,  can they convincingly showcase understanding when asked?</a:t>
            </a:r>
            <a:endParaRPr lang="en-GB" sz="4800" b="1" dirty="0">
              <a:latin typeface="Segoe Pro" panose="020B0502040504020203" pitchFamily="34" charset="0"/>
            </a:endParaRPr>
          </a:p>
          <a:p>
            <a:pPr>
              <a:spcAft>
                <a:spcPts val="692"/>
              </a:spcAft>
            </a:pPr>
            <a:r>
              <a:rPr lang="en-GB" sz="4800" b="1" dirty="0">
                <a:solidFill>
                  <a:schemeClr val="bg1"/>
                </a:solidFill>
                <a:latin typeface="Segoe Pro" panose="020B0502040504020203" pitchFamily="34" charset="0"/>
              </a:rPr>
              <a:t>More importantly, does it matter?</a:t>
            </a:r>
            <a:endParaRPr lang="en-GB" sz="4800" dirty="0">
              <a:solidFill>
                <a:schemeClr val="bg1"/>
              </a:solidFill>
              <a:latin typeface="Segoe Pro" panose="020B050204050402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342207-BD28-2EC8-EAC5-DCCA877C27E1}"/>
              </a:ext>
            </a:extLst>
          </p:cNvPr>
          <p:cNvSpPr/>
          <p:nvPr/>
        </p:nvSpPr>
        <p:spPr>
          <a:xfrm>
            <a:off x="187567" y="4822217"/>
            <a:ext cx="1726359" cy="1633417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85" dirty="0">
              <a:latin typeface="Segoe Pro" panose="020B0502040504020203" pitchFamily="34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5269D7D-33B1-1DA2-85EB-518FD5980B2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9685818" y="41486400"/>
            <a:ext cx="3302920" cy="148039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68CA90D-AD47-0AA0-2D1E-5F3DF8855B00}"/>
              </a:ext>
            </a:extLst>
          </p:cNvPr>
          <p:cNvSpPr txBox="1"/>
          <p:nvPr/>
        </p:nvSpPr>
        <p:spPr>
          <a:xfrm>
            <a:off x="848617" y="41963448"/>
            <a:ext cx="9986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Segoe Pro" panose="020B0502040504020203" pitchFamily="34" charset="0"/>
              </a:rPr>
              <a:t>Adrian de Wynter	         adewynter@microsoft.com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146B1B-B675-EC4B-3FA2-6EE9E44D4C6D}"/>
              </a:ext>
            </a:extLst>
          </p:cNvPr>
          <p:cNvSpPr txBox="1"/>
          <p:nvPr/>
        </p:nvSpPr>
        <p:spPr>
          <a:xfrm>
            <a:off x="727394" y="5669088"/>
            <a:ext cx="824377" cy="439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15"/>
              </a:lnSpc>
              <a:spcAft>
                <a:spcPts val="692"/>
              </a:spcAft>
            </a:pPr>
            <a:r>
              <a:rPr lang="en-GB" sz="6000" b="1" dirty="0">
                <a:solidFill>
                  <a:schemeClr val="bg1"/>
                </a:solidFill>
                <a:latin typeface="Segoe Pro" panose="020B0502040504020203" pitchFamily="34" charset="0"/>
              </a:rPr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535A799-7F0E-2F42-AEAB-E820D7735062}"/>
              </a:ext>
            </a:extLst>
          </p:cNvPr>
          <p:cNvSpPr txBox="1"/>
          <p:nvPr/>
        </p:nvSpPr>
        <p:spPr>
          <a:xfrm>
            <a:off x="2208368" y="17785129"/>
            <a:ext cx="5729691" cy="439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15"/>
              </a:lnSpc>
              <a:spcAft>
                <a:spcPts val="692"/>
              </a:spcAft>
            </a:pPr>
            <a:r>
              <a:rPr lang="en-US" sz="6000" b="1" dirty="0">
                <a:solidFill>
                  <a:schemeClr val="bg1"/>
                </a:solidFill>
                <a:latin typeface="Segoe Pro" panose="020B0502040504020203" pitchFamily="34" charset="0"/>
              </a:rPr>
              <a:t>Framing</a:t>
            </a:r>
            <a:endParaRPr lang="en-GB" sz="6000" b="1" dirty="0">
              <a:solidFill>
                <a:schemeClr val="bg1"/>
              </a:solidFill>
              <a:latin typeface="Segoe Pro" panose="020B050204050402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C9F387F-12CF-DCBA-F4B1-ADA0FF57D126}"/>
              </a:ext>
            </a:extLst>
          </p:cNvPr>
          <p:cNvSpPr txBox="1"/>
          <p:nvPr/>
        </p:nvSpPr>
        <p:spPr>
          <a:xfrm>
            <a:off x="269987" y="18951034"/>
            <a:ext cx="10442006" cy="1208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92"/>
              </a:spcAft>
            </a:pPr>
            <a:r>
              <a:rPr lang="en-GB" sz="4800" b="1" dirty="0">
                <a:latin typeface="Segoe Pro" panose="020B0502040504020203" pitchFamily="34" charset="0"/>
              </a:rPr>
              <a:t>What </a:t>
            </a:r>
            <a:r>
              <a:rPr lang="en-GB" sz="4800" b="1" u="sng" dirty="0">
                <a:latin typeface="Segoe Pro" panose="020B0502040504020203" pitchFamily="34" charset="0"/>
              </a:rPr>
              <a:t>is</a:t>
            </a:r>
            <a:r>
              <a:rPr lang="en-GB" sz="4800" b="1" dirty="0">
                <a:latin typeface="Segoe Pro" panose="020B0502040504020203" pitchFamily="34" charset="0"/>
              </a:rPr>
              <a:t> understanding?</a:t>
            </a:r>
            <a:endParaRPr lang="en-GB" sz="5400" b="1" dirty="0">
              <a:latin typeface="Segoe Pro" panose="020B0502040504020203" pitchFamily="34" charset="0"/>
            </a:endParaRPr>
          </a:p>
          <a:p>
            <a:pPr marL="96712">
              <a:spcAft>
                <a:spcPts val="692"/>
              </a:spcAft>
            </a:pPr>
            <a:r>
              <a:rPr lang="en-GB" sz="4800" dirty="0">
                <a:latin typeface="Segoe Pro" panose="020B0502040504020203" pitchFamily="34" charset="0"/>
              </a:rPr>
              <a:t>• We’ll use </a:t>
            </a:r>
            <a:r>
              <a:rPr lang="en-GB" sz="4800" dirty="0" err="1">
                <a:latin typeface="Segoe Pro" panose="020B0502040504020203" pitchFamily="34" charset="0"/>
              </a:rPr>
              <a:t>Kvanvig</a:t>
            </a:r>
            <a:r>
              <a:rPr lang="en-GB" sz="4800" dirty="0">
                <a:latin typeface="Segoe Pro" panose="020B0502040504020203" pitchFamily="34" charset="0"/>
              </a:rPr>
              <a:t> (2003)’s definition: a collection of information along with the reason why it occurs.</a:t>
            </a:r>
          </a:p>
          <a:p>
            <a:pPr>
              <a:spcAft>
                <a:spcPts val="692"/>
              </a:spcAft>
            </a:pPr>
            <a:r>
              <a:rPr lang="en-GB" sz="4800" dirty="0">
                <a:latin typeface="Segoe Pro" panose="020B0502040504020203" pitchFamily="34" charset="0"/>
              </a:rPr>
              <a:t>	It is not the only definition!</a:t>
            </a:r>
            <a:endParaRPr lang="en-US" sz="4800" dirty="0">
              <a:latin typeface="Segoe Pro" panose="020B0502040504020203" pitchFamily="34" charset="0"/>
            </a:endParaRPr>
          </a:p>
          <a:p>
            <a:pPr>
              <a:spcAft>
                <a:spcPts val="300"/>
              </a:spcAft>
            </a:pPr>
            <a:endParaRPr lang="en-US" sz="1600" dirty="0">
              <a:latin typeface="Segoe Pro" panose="020B0502040504020203" pitchFamily="34" charset="0"/>
            </a:endParaRPr>
          </a:p>
          <a:p>
            <a:pPr>
              <a:spcAft>
                <a:spcPts val="692"/>
              </a:spcAft>
            </a:pPr>
            <a:r>
              <a:rPr lang="en-GB" sz="4800" b="1" dirty="0">
                <a:latin typeface="Segoe Pro" panose="020B0502040504020203" pitchFamily="34" charset="0"/>
              </a:rPr>
              <a:t>Measuring understanding</a:t>
            </a:r>
          </a:p>
          <a:p>
            <a:pPr>
              <a:spcAft>
                <a:spcPts val="692"/>
              </a:spcAft>
            </a:pPr>
            <a:r>
              <a:rPr lang="en-GB" sz="4800" dirty="0">
                <a:latin typeface="Segoe Pro" panose="020B0502040504020203" pitchFamily="34" charset="0"/>
              </a:rPr>
              <a:t>We’ll take two approaches:</a:t>
            </a:r>
          </a:p>
          <a:p>
            <a:pPr>
              <a:spcAft>
                <a:spcPts val="692"/>
              </a:spcAft>
            </a:pPr>
            <a:r>
              <a:rPr lang="en-GB" sz="4800" dirty="0">
                <a:latin typeface="Segoe Pro" panose="020B0502040504020203" pitchFamily="34" charset="0"/>
              </a:rPr>
              <a:t>•</a:t>
            </a:r>
            <a:r>
              <a:rPr lang="en-GB" sz="4800" i="1" dirty="0">
                <a:latin typeface="Segoe Pro" panose="020B0502040504020203" pitchFamily="34" charset="0"/>
              </a:rPr>
              <a:t> </a:t>
            </a:r>
            <a:r>
              <a:rPr lang="en-GB" sz="4800" i="1" u="sng" dirty="0">
                <a:latin typeface="Segoe Pro" panose="020B0502040504020203" pitchFamily="34" charset="0"/>
              </a:rPr>
              <a:t>Wittgenstein</a:t>
            </a:r>
            <a:r>
              <a:rPr lang="en-GB" sz="4800" i="1" dirty="0">
                <a:latin typeface="Segoe Pro" panose="020B0502040504020203" pitchFamily="34" charset="0"/>
              </a:rPr>
              <a:t>: </a:t>
            </a:r>
            <a:r>
              <a:rPr lang="en-GB" sz="4800" dirty="0">
                <a:latin typeface="Segoe Pro" panose="020B0502040504020203" pitchFamily="34" charset="0"/>
              </a:rPr>
              <a:t>words take meaning from context.</a:t>
            </a:r>
            <a:br>
              <a:rPr lang="en-GB" sz="4800" dirty="0">
                <a:latin typeface="Segoe Pro" panose="020B0502040504020203" pitchFamily="34" charset="0"/>
              </a:rPr>
            </a:br>
            <a:r>
              <a:rPr lang="en-GB" sz="4800" dirty="0">
                <a:latin typeface="Segoe Pro" panose="020B0502040504020203" pitchFamily="34" charset="0"/>
              </a:rPr>
              <a:t>	Test understanding from context.</a:t>
            </a:r>
          </a:p>
          <a:p>
            <a:pPr>
              <a:spcAft>
                <a:spcPts val="692"/>
              </a:spcAft>
            </a:pPr>
            <a:r>
              <a:rPr lang="en-GB" sz="4800" dirty="0">
                <a:latin typeface="Segoe Pro" panose="020B0502040504020203" pitchFamily="34" charset="0"/>
              </a:rPr>
              <a:t>•</a:t>
            </a:r>
            <a:r>
              <a:rPr lang="en-GB" sz="4800" i="1" dirty="0">
                <a:latin typeface="Segoe Pro" panose="020B0502040504020203" pitchFamily="34" charset="0"/>
              </a:rPr>
              <a:t> </a:t>
            </a:r>
            <a:r>
              <a:rPr lang="en-GB" sz="4800" i="1" u="sng" dirty="0">
                <a:latin typeface="Segoe Pro" panose="020B0502040504020203" pitchFamily="34" charset="0"/>
              </a:rPr>
              <a:t>Turing</a:t>
            </a:r>
            <a:r>
              <a:rPr lang="en-GB" sz="4800" i="1" dirty="0">
                <a:latin typeface="Segoe Pro" panose="020B0502040504020203" pitchFamily="34" charset="0"/>
              </a:rPr>
              <a:t>: </a:t>
            </a:r>
            <a:r>
              <a:rPr lang="en-GB" sz="4800" dirty="0">
                <a:latin typeface="Segoe Pro" panose="020B0502040504020203" pitchFamily="34" charset="0"/>
              </a:rPr>
              <a:t>a machine passes the Imitation Game if it successfully convinces a human</a:t>
            </a:r>
          </a:p>
          <a:p>
            <a:pPr>
              <a:spcAft>
                <a:spcPts val="692"/>
              </a:spcAft>
            </a:pPr>
            <a:r>
              <a:rPr lang="en-GB" sz="4800" i="1" dirty="0">
                <a:latin typeface="Segoe Pro" panose="020B0502040504020203" pitchFamily="34" charset="0"/>
              </a:rPr>
              <a:t>	</a:t>
            </a:r>
            <a:r>
              <a:rPr lang="en-GB" sz="4800" dirty="0">
                <a:latin typeface="Segoe Pro" panose="020B0502040504020203" pitchFamily="34" charset="0"/>
              </a:rPr>
              <a:t>Test understanding through persuasiveness.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662C004-608F-D0E4-2F04-6A18484066A8}"/>
              </a:ext>
            </a:extLst>
          </p:cNvPr>
          <p:cNvSpPr txBox="1"/>
          <p:nvPr/>
        </p:nvSpPr>
        <p:spPr>
          <a:xfrm>
            <a:off x="739244" y="17756530"/>
            <a:ext cx="824377" cy="439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15"/>
              </a:lnSpc>
              <a:spcAft>
                <a:spcPts val="692"/>
              </a:spcAft>
            </a:pPr>
            <a:r>
              <a:rPr lang="en-GB" sz="6000" b="1" dirty="0">
                <a:solidFill>
                  <a:schemeClr val="bg1"/>
                </a:solidFill>
                <a:latin typeface="Segoe Pro" panose="020B0502040504020203" pitchFamily="34" charset="0"/>
              </a:rPr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AD2DDAE-D553-FF72-EEB6-6CE7EDF992AB}"/>
              </a:ext>
            </a:extLst>
          </p:cNvPr>
          <p:cNvSpPr txBox="1"/>
          <p:nvPr/>
        </p:nvSpPr>
        <p:spPr>
          <a:xfrm>
            <a:off x="12857049" y="22226959"/>
            <a:ext cx="7908143" cy="990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15"/>
              </a:lnSpc>
              <a:spcAft>
                <a:spcPts val="692"/>
              </a:spcAft>
            </a:pPr>
            <a:r>
              <a:rPr lang="en-GB" sz="5400" b="1" dirty="0">
                <a:solidFill>
                  <a:schemeClr val="bg1"/>
                </a:solidFill>
                <a:latin typeface="Segoe Pro" panose="020B0502040504020203" pitchFamily="34" charset="0"/>
              </a:rPr>
              <a:t>Can LLMs Understand?</a:t>
            </a:r>
            <a:br>
              <a:rPr lang="en-GB" sz="5400" b="1" dirty="0">
                <a:solidFill>
                  <a:schemeClr val="bg1"/>
                </a:solidFill>
                <a:latin typeface="Segoe Pro" panose="020B0502040504020203" pitchFamily="34" charset="0"/>
              </a:rPr>
            </a:br>
            <a:br>
              <a:rPr lang="en-GB" sz="5400" b="1" dirty="0">
                <a:solidFill>
                  <a:schemeClr val="bg1"/>
                </a:solidFill>
                <a:latin typeface="Segoe Pro" panose="020B0502040504020203" pitchFamily="34" charset="0"/>
              </a:rPr>
            </a:br>
            <a:br>
              <a:rPr lang="en-GB" sz="5400" b="1" dirty="0">
                <a:solidFill>
                  <a:schemeClr val="bg1"/>
                </a:solidFill>
                <a:latin typeface="Segoe Pro" panose="020B0502040504020203" pitchFamily="34" charset="0"/>
              </a:rPr>
            </a:br>
            <a:r>
              <a:rPr lang="en-GB" sz="3600" b="1" dirty="0">
                <a:solidFill>
                  <a:schemeClr val="bg1"/>
                </a:solidFill>
                <a:latin typeface="Segoe Pro" panose="020B0502040504020203" pitchFamily="34" charset="0"/>
              </a:rPr>
              <a:t>(compositionally)</a:t>
            </a:r>
            <a:endParaRPr lang="en-GB" sz="5400" b="1" dirty="0">
              <a:solidFill>
                <a:schemeClr val="bg1"/>
              </a:solidFill>
              <a:latin typeface="Segoe Pro" panose="020B05020405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FCB2DB5-FD1F-788E-6F93-B65874B5BFC9}"/>
                  </a:ext>
                </a:extLst>
              </p:cNvPr>
              <p:cNvSpPr txBox="1"/>
              <p:nvPr/>
            </p:nvSpPr>
            <p:spPr>
              <a:xfrm>
                <a:off x="11025461" y="23726250"/>
                <a:ext cx="10619543" cy="17666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923"/>
                  </a:spcAft>
                </a:pPr>
                <a:r>
                  <a:rPr lang="en-US" sz="4800" dirty="0">
                    <a:latin typeface="Segoe Pro" panose="020B0502040504020203" pitchFamily="34" charset="0"/>
                  </a:rPr>
                  <a:t>Understand </a:t>
                </a:r>
                <a:r>
                  <a:rPr lang="en-US" sz="4800" b="1" dirty="0">
                    <a:latin typeface="Segoe Pro" panose="020B0502040504020203" pitchFamily="34" charset="0"/>
                  </a:rPr>
                  <a:t>arguments</a:t>
                </a:r>
                <a:r>
                  <a:rPr lang="en-US" sz="4800" dirty="0">
                    <a:latin typeface="Segoe Pro" panose="020B0502040504020203" pitchFamily="34" charset="0"/>
                  </a:rPr>
                  <a:t>, that is. Not the same as ‘do they output grammatical text’. </a:t>
                </a:r>
              </a:p>
              <a:p>
                <a:pPr>
                  <a:spcAft>
                    <a:spcPts val="300"/>
                  </a:spcAft>
                </a:pPr>
                <a:endParaRPr lang="en-US" sz="1600" dirty="0">
                  <a:latin typeface="Segoe Pro" panose="020B0502040504020203" pitchFamily="34" charset="0"/>
                </a:endParaRPr>
              </a:p>
              <a:p>
                <a:pPr>
                  <a:spcAft>
                    <a:spcPts val="923"/>
                  </a:spcAft>
                </a:pPr>
                <a:r>
                  <a:rPr lang="en-GB" sz="4800" dirty="0">
                    <a:latin typeface="Segoe Pro" panose="020B0502040504020203" pitchFamily="34" charset="0"/>
                  </a:rPr>
                  <a:t>• Annotate the </a:t>
                </a:r>
                <a:br>
                  <a:rPr lang="en-GB" sz="4800" dirty="0">
                    <a:latin typeface="Segoe Pro" panose="020B0502040504020203" pitchFamily="34" charset="0"/>
                  </a:rPr>
                </a:br>
                <a:r>
                  <a:rPr lang="en-GB" sz="4800" dirty="0">
                    <a:latin typeface="Segoe Pro" panose="020B0502040504020203" pitchFamily="34" charset="0"/>
                  </a:rPr>
                  <a:t>debates based on </a:t>
                </a:r>
                <a:br>
                  <a:rPr lang="en-GB" sz="4800" dirty="0">
                    <a:latin typeface="Segoe Pro" panose="020B0502040504020203" pitchFamily="34" charset="0"/>
                  </a:rPr>
                </a:br>
                <a:r>
                  <a:rPr lang="en-GB" sz="4800" dirty="0">
                    <a:latin typeface="Segoe Pro" panose="020B0502040504020203" pitchFamily="34" charset="0"/>
                  </a:rPr>
                  <a:t>various levels of </a:t>
                </a:r>
                <a:br>
                  <a:rPr lang="en-GB" sz="4800" dirty="0">
                    <a:latin typeface="Segoe Pro" panose="020B0502040504020203" pitchFamily="34" charset="0"/>
                  </a:rPr>
                </a:br>
                <a:r>
                  <a:rPr lang="en-GB" sz="4800" dirty="0">
                    <a:latin typeface="Segoe Pro" panose="020B0502040504020203" pitchFamily="34" charset="0"/>
                  </a:rPr>
                  <a:t>dialogue structure</a:t>
                </a:r>
                <a:br>
                  <a:rPr lang="en-GB" sz="4800" dirty="0">
                    <a:latin typeface="Segoe Pro" panose="020B0502040504020203" pitchFamily="34" charset="0"/>
                  </a:rPr>
                </a:br>
                <a:r>
                  <a:rPr lang="en-GB" sz="4800" dirty="0">
                    <a:latin typeface="Segoe Pro" panose="020B0502040504020203" pitchFamily="34" charset="0"/>
                  </a:rPr>
                  <a:t>granularity. </a:t>
                </a:r>
              </a:p>
              <a:p>
                <a:pPr>
                  <a:spcAft>
                    <a:spcPts val="923"/>
                  </a:spcAft>
                </a:pPr>
                <a:endParaRPr lang="en-GB" sz="4800" dirty="0">
                  <a:latin typeface="Segoe Pro" panose="020B0502040504020203" pitchFamily="34" charset="0"/>
                </a:endParaRPr>
              </a:p>
              <a:p>
                <a:pPr>
                  <a:spcAft>
                    <a:spcPts val="923"/>
                  </a:spcAft>
                </a:pPr>
                <a:r>
                  <a:rPr lang="en-GB" sz="4800" dirty="0">
                    <a:latin typeface="Segoe Pro" panose="020B0502040504020203" pitchFamily="34" charset="0"/>
                  </a:rPr>
                  <a:t>Human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dirty="0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4800" dirty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4800" b="0" i="0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4800" dirty="0">
                        <a:latin typeface="Cambria Math" panose="02040503050406030204" pitchFamily="18" charset="0"/>
                      </a:rPr>
                      <m:t>0.86</m:t>
                    </m:r>
                  </m:oMath>
                </a14:m>
                <a:r>
                  <a:rPr lang="en-GB" sz="4800" dirty="0"/>
                  <a:t> (C-0—C-6), </a:t>
                </a:r>
                <a14:m>
                  <m:oMath xmlns:m="http://schemas.openxmlformats.org/officeDocument/2006/math">
                    <m:r>
                      <a:rPr lang="en-GB" sz="4800" dirty="0">
                        <a:latin typeface="Cambria Math" panose="02040503050406030204" pitchFamily="18" charset="0"/>
                      </a:rPr>
                      <m:t>0.41</m:t>
                    </m:r>
                  </m:oMath>
                </a14:m>
                <a:r>
                  <a:rPr lang="en-GB" sz="4800" dirty="0"/>
                  <a:t> (C-7)</a:t>
                </a:r>
                <a:endParaRPr lang="en-US" sz="4800" dirty="0">
                  <a:latin typeface="Segoe Pro" panose="020B0502040504020203" pitchFamily="34" charset="0"/>
                </a:endParaRPr>
              </a:p>
              <a:p>
                <a:pPr>
                  <a:spcAft>
                    <a:spcPts val="300"/>
                  </a:spcAft>
                </a:pPr>
                <a:endParaRPr lang="en-US" sz="1600" dirty="0">
                  <a:latin typeface="Segoe Pro" panose="020B0502040504020203" pitchFamily="34" charset="0"/>
                </a:endParaRPr>
              </a:p>
              <a:p>
                <a:pPr>
                  <a:spcAft>
                    <a:spcPts val="923"/>
                  </a:spcAft>
                </a:pPr>
                <a:r>
                  <a:rPr lang="en-GB" sz="4800" b="1" dirty="0">
                    <a:latin typeface="Segoe Pro" panose="020B0502040504020203" pitchFamily="34" charset="0"/>
                  </a:rPr>
                  <a:t>Direct </a:t>
                </a:r>
                <a:r>
                  <a:rPr lang="en-GB" sz="4800" dirty="0">
                    <a:latin typeface="Segoe Pro" panose="020B0502040504020203" pitchFamily="34" charset="0"/>
                  </a:rPr>
                  <a:t>measurement:</a:t>
                </a:r>
              </a:p>
              <a:p>
                <a:pPr>
                  <a:spcAft>
                    <a:spcPts val="923"/>
                  </a:spcAft>
                </a:pPr>
                <a:r>
                  <a:rPr lang="en-US" sz="4800" dirty="0">
                    <a:latin typeface="Segoe Pro" panose="020B0502040504020203" pitchFamily="34" charset="0"/>
                  </a:rPr>
                  <a:t>human-LLM is low:</a:t>
                </a:r>
                <a:br>
                  <a:rPr lang="en-US" sz="4800" dirty="0">
                    <a:latin typeface="Segoe Pro" panose="020B0502040504020203" pitchFamily="34" charset="0"/>
                  </a:rPr>
                </a:br>
                <a:r>
                  <a:rPr lang="en-GB" sz="4800" dirty="0">
                    <a:latin typeface="Segoe Pro" panose="020B0502040504020203" pitchFamily="34" charset="0"/>
                  </a:rPr>
                  <a:t>• Average</a:t>
                </a:r>
                <a:r>
                  <a:rPr lang="en-US" sz="4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dirty="0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4800" dirty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4800" dirty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4800" dirty="0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sz="4800" b="0" i="0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lang="en-GB" sz="4800" dirty="0">
                  <a:latin typeface="Segoe Pro" panose="020B0502040504020203" pitchFamily="34" charset="0"/>
                </a:endParaRPr>
              </a:p>
              <a:p>
                <a:pPr>
                  <a:spcAft>
                    <a:spcPts val="923"/>
                  </a:spcAft>
                </a:pPr>
                <a:r>
                  <a:rPr lang="en-GB" sz="4800" dirty="0">
                    <a:latin typeface="Segoe Pro" panose="020B0502040504020203" pitchFamily="34" charset="0"/>
                  </a:rPr>
                  <a:t>• Prompt sensitivity</a:t>
                </a:r>
                <a:br>
                  <a:rPr lang="en-GB" sz="4800" dirty="0">
                    <a:latin typeface="Segoe Pro" panose="020B0502040504020203" pitchFamily="34" charset="0"/>
                  </a:rPr>
                </a:br>
                <a:r>
                  <a:rPr lang="en-GB" sz="4800" dirty="0">
                    <a:latin typeface="Segoe Pro" panose="020B0502040504020203" pitchFamily="34" charset="0"/>
                  </a:rPr>
                  <a:t>is accounted for (APO)</a:t>
                </a:r>
                <a:endParaRPr lang="en-US" sz="4800" dirty="0">
                  <a:latin typeface="Segoe Pro" panose="020B0502040504020203" pitchFamily="34" charset="0"/>
                </a:endParaRPr>
              </a:p>
              <a:p>
                <a:pPr>
                  <a:spcAft>
                    <a:spcPts val="300"/>
                  </a:spcAft>
                </a:pPr>
                <a:endParaRPr lang="en-US" sz="1600" dirty="0">
                  <a:latin typeface="Segoe Pro" panose="020B0502040504020203" pitchFamily="34" charset="0"/>
                </a:endParaRPr>
              </a:p>
              <a:p>
                <a:pPr>
                  <a:spcAft>
                    <a:spcPts val="923"/>
                  </a:spcAft>
                </a:pPr>
                <a:r>
                  <a:rPr lang="en-US" sz="4800" b="1" dirty="0">
                    <a:latin typeface="Segoe Pro" panose="020B0502040504020203" pitchFamily="34" charset="0"/>
                  </a:rPr>
                  <a:t>Indirect </a:t>
                </a:r>
                <a:r>
                  <a:rPr lang="en-US" sz="4800" dirty="0">
                    <a:latin typeface="Segoe Pro" panose="020B0502040504020203" pitchFamily="34" charset="0"/>
                  </a:rPr>
                  <a:t>measurements:</a:t>
                </a:r>
              </a:p>
              <a:p>
                <a:pPr>
                  <a:spcAft>
                    <a:spcPts val="300"/>
                  </a:spcAft>
                </a:pPr>
                <a:endParaRPr lang="en-US" sz="1600" dirty="0">
                  <a:latin typeface="Segoe Pro" panose="020B0502040504020203" pitchFamily="34" charset="0"/>
                </a:endParaRPr>
              </a:p>
              <a:p>
                <a:pPr>
                  <a:spcAft>
                    <a:spcPts val="923"/>
                  </a:spcAft>
                </a:pPr>
                <a:r>
                  <a:rPr lang="en-GB" sz="4800" dirty="0">
                    <a:latin typeface="Segoe Pro" panose="020B0502040504020203" pitchFamily="34" charset="0"/>
                  </a:rPr>
                  <a:t>• Test if the sum of </a:t>
                </a:r>
                <a:br>
                  <a:rPr lang="en-GB" sz="4800" dirty="0">
                    <a:latin typeface="Segoe Pro" panose="020B0502040504020203" pitchFamily="34" charset="0"/>
                  </a:rPr>
                </a:br>
                <a:r>
                  <a:rPr lang="en-GB" sz="4800" dirty="0">
                    <a:latin typeface="Segoe Pro" panose="020B0502040504020203" pitchFamily="34" charset="0"/>
                  </a:rPr>
                  <a:t>argument strengths</a:t>
                </a:r>
                <a:br>
                  <a:rPr lang="en-GB" sz="4800" dirty="0">
                    <a:latin typeface="Segoe Pro" panose="020B0502040504020203" pitchFamily="34" charset="0"/>
                  </a:rPr>
                </a:br>
                <a:r>
                  <a:rPr lang="en-GB" sz="4800" dirty="0">
                    <a:latin typeface="Segoe Pro" panose="020B0502040504020203" pitchFamily="34" charset="0"/>
                  </a:rPr>
                  <a:t>is consistent with </a:t>
                </a:r>
                <a:br>
                  <a:rPr lang="en-GB" sz="4800" dirty="0">
                    <a:latin typeface="Segoe Pro" panose="020B0502040504020203" pitchFamily="34" charset="0"/>
                  </a:rPr>
                </a:br>
                <a:r>
                  <a:rPr lang="en-GB" sz="4800" dirty="0">
                    <a:latin typeface="Segoe Pro" panose="020B0502040504020203" pitchFamily="34" charset="0"/>
                  </a:rPr>
                  <a:t>choice of winner. </a:t>
                </a:r>
                <a:br>
                  <a:rPr lang="en-GB" sz="4800" dirty="0">
                    <a:latin typeface="Segoe Pro" panose="020B0502040504020203" pitchFamily="34" charset="0"/>
                  </a:rPr>
                </a:br>
                <a:r>
                  <a:rPr lang="en-GB" sz="4800" i="1" dirty="0">
                    <a:latin typeface="Segoe Pro" panose="020B0502040504020203" pitchFamily="34" charset="0"/>
                  </a:rPr>
                  <a:t>(It isn’t)</a:t>
                </a: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FCB2DB5-FD1F-788E-6F93-B65874B5B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5461" y="23726250"/>
                <a:ext cx="10619543" cy="17666375"/>
              </a:xfrm>
              <a:prstGeom prst="rect">
                <a:avLst/>
              </a:prstGeom>
              <a:blipFill>
                <a:blip r:embed="rId6"/>
                <a:stretch>
                  <a:fillRect l="-2641" t="-794" r="-57" b="-8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" name="TextBox 1023">
            <a:extLst>
              <a:ext uri="{FF2B5EF4-FFF2-40B4-BE49-F238E27FC236}">
                <a16:creationId xmlns:a16="http://schemas.microsoft.com/office/drawing/2014/main" id="{600B6830-D2C7-8420-79C8-4859D3AFB0DC}"/>
              </a:ext>
            </a:extLst>
          </p:cNvPr>
          <p:cNvSpPr txBox="1"/>
          <p:nvPr/>
        </p:nvSpPr>
        <p:spPr>
          <a:xfrm>
            <a:off x="11397303" y="22518090"/>
            <a:ext cx="824377" cy="439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15"/>
              </a:lnSpc>
              <a:spcAft>
                <a:spcPts val="692"/>
              </a:spcAft>
            </a:pPr>
            <a:r>
              <a:rPr lang="en-US" sz="6000" b="1" dirty="0">
                <a:solidFill>
                  <a:schemeClr val="bg1"/>
                </a:solidFill>
                <a:latin typeface="Segoe Pro" panose="020B0502040504020203" pitchFamily="34" charset="0"/>
              </a:rPr>
              <a:t>4</a:t>
            </a:r>
            <a:endParaRPr lang="en-GB" sz="6000" b="1" dirty="0">
              <a:solidFill>
                <a:schemeClr val="bg1"/>
              </a:solidFill>
              <a:latin typeface="Segoe Pro" panose="020B0502040504020203" pitchFamily="34" charset="0"/>
            </a:endParaRPr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8FA172C0-74CE-97BC-3494-3932C2F028A4}"/>
              </a:ext>
            </a:extLst>
          </p:cNvPr>
          <p:cNvSpPr/>
          <p:nvPr/>
        </p:nvSpPr>
        <p:spPr>
          <a:xfrm>
            <a:off x="11111751" y="4762174"/>
            <a:ext cx="10529479" cy="1737281"/>
          </a:xfrm>
          <a:prstGeom prst="rect">
            <a:avLst/>
          </a:prstGeom>
          <a:solidFill>
            <a:srgbClr val="8661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85" dirty="0">
              <a:latin typeface="Segoe Pro" panose="020B0502040504020203" pitchFamily="34" charset="0"/>
            </a:endParaRPr>
          </a:p>
        </p:txBody>
      </p:sp>
      <p:sp>
        <p:nvSpPr>
          <p:cNvPr id="1028" name="TextBox 1027">
            <a:extLst>
              <a:ext uri="{FF2B5EF4-FFF2-40B4-BE49-F238E27FC236}">
                <a16:creationId xmlns:a16="http://schemas.microsoft.com/office/drawing/2014/main" id="{425395A8-1CE6-A13D-6F78-3DC61A9CD894}"/>
              </a:ext>
            </a:extLst>
          </p:cNvPr>
          <p:cNvSpPr txBox="1"/>
          <p:nvPr/>
        </p:nvSpPr>
        <p:spPr>
          <a:xfrm>
            <a:off x="13075439" y="5470134"/>
            <a:ext cx="8558568" cy="990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15"/>
              </a:lnSpc>
              <a:spcAft>
                <a:spcPts val="692"/>
              </a:spcAft>
            </a:pPr>
            <a:r>
              <a:rPr lang="en-GB" sz="6000" b="1" dirty="0">
                <a:solidFill>
                  <a:schemeClr val="bg1"/>
                </a:solidFill>
                <a:latin typeface="Segoe Pro" panose="020B0502040504020203" pitchFamily="34" charset="0"/>
              </a:rPr>
              <a:t>Can LLMs Understand?</a:t>
            </a:r>
            <a:br>
              <a:rPr lang="en-GB" sz="6000" b="1" dirty="0">
                <a:solidFill>
                  <a:schemeClr val="bg1"/>
                </a:solidFill>
                <a:latin typeface="Segoe Pro" panose="020B0502040504020203" pitchFamily="34" charset="0"/>
              </a:rPr>
            </a:br>
            <a:br>
              <a:rPr lang="en-GB" sz="6000" b="1" dirty="0">
                <a:solidFill>
                  <a:schemeClr val="bg1"/>
                </a:solidFill>
                <a:latin typeface="Segoe Pro" panose="020B0502040504020203" pitchFamily="34" charset="0"/>
              </a:rPr>
            </a:br>
            <a:br>
              <a:rPr lang="en-GB" sz="6000" b="1" dirty="0">
                <a:solidFill>
                  <a:schemeClr val="bg1"/>
                </a:solidFill>
                <a:latin typeface="Segoe Pro" panose="020B0502040504020203" pitchFamily="34" charset="0"/>
              </a:rPr>
            </a:br>
            <a:r>
              <a:rPr lang="en-GB" sz="4000" b="1" dirty="0">
                <a:solidFill>
                  <a:schemeClr val="bg1"/>
                </a:solidFill>
                <a:latin typeface="Segoe Pro" panose="020B0502040504020203" pitchFamily="34" charset="0"/>
              </a:rPr>
              <a:t>(holistically)</a:t>
            </a:r>
            <a:endParaRPr lang="en-GB" sz="6000" b="1" dirty="0">
              <a:solidFill>
                <a:schemeClr val="bg1"/>
              </a:solidFill>
              <a:latin typeface="Segoe Pro" panose="020B0502040504020203" pitchFamily="34" charset="0"/>
            </a:endParaRP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311AE62B-55FE-5899-AC06-7FB97E9120A3}"/>
              </a:ext>
            </a:extLst>
          </p:cNvPr>
          <p:cNvSpPr txBox="1"/>
          <p:nvPr/>
        </p:nvSpPr>
        <p:spPr>
          <a:xfrm>
            <a:off x="11111751" y="6873602"/>
            <a:ext cx="10381889" cy="14316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92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latin typeface="Segoe Pro" panose="020B0502040504020203" pitchFamily="34" charset="0"/>
              </a:rPr>
              <a:t>In our </a:t>
            </a:r>
            <a:r>
              <a:rPr lang="en-US" sz="4800" b="1" dirty="0">
                <a:latin typeface="Segoe Pro" panose="020B0502040504020203" pitchFamily="34" charset="0"/>
              </a:rPr>
              <a:t>direct</a:t>
            </a:r>
            <a:r>
              <a:rPr lang="en-US" sz="4800" dirty="0">
                <a:latin typeface="Segoe Pro" panose="020B0502040504020203" pitchFamily="34" charset="0"/>
              </a:rPr>
              <a:t> measurement, we reviewed the quantitative responses to the surveys for both debaters and audience (right, TTS).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Pro" panose="020B0502040504020203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Pro" panose="020B0502040504020203" pitchFamily="34" charset="0"/>
              <a:ea typeface="+mn-ea"/>
              <a:cs typeface="+mn-cs"/>
            </a:endParaRPr>
          </a:p>
          <a:p>
            <a:pPr>
              <a:spcAft>
                <a:spcPts val="692"/>
              </a:spcAft>
            </a:pPr>
            <a:r>
              <a:rPr lang="en-US" sz="4800" dirty="0">
                <a:latin typeface="Segoe Pro" panose="020B0502040504020203" pitchFamily="34" charset="0"/>
              </a:rPr>
              <a:t>Self-perceived win-rate was unstable:</a:t>
            </a:r>
          </a:p>
          <a:p>
            <a:pPr>
              <a:spcAft>
                <a:spcPts val="692"/>
              </a:spcAft>
            </a:pPr>
            <a:br>
              <a:rPr lang="en-US" sz="4800" dirty="0">
                <a:latin typeface="Segoe Pro" panose="020B0502040504020203" pitchFamily="34" charset="0"/>
              </a:rPr>
            </a:br>
            <a:br>
              <a:rPr lang="en-US" sz="4800" dirty="0">
                <a:latin typeface="Segoe Pro" panose="020B0502040504020203" pitchFamily="34" charset="0"/>
              </a:rPr>
            </a:br>
            <a:endParaRPr lang="en-US" sz="4800" dirty="0">
              <a:latin typeface="Segoe Pro" panose="020B0502040504020203" pitchFamily="34" charset="0"/>
            </a:endParaRPr>
          </a:p>
          <a:p>
            <a:pPr>
              <a:spcAft>
                <a:spcPts val="692"/>
              </a:spcAft>
            </a:pPr>
            <a:r>
              <a:rPr lang="en-US" sz="4800" dirty="0">
                <a:latin typeface="Segoe Pro" panose="020B0502040504020203" pitchFamily="34" charset="0"/>
              </a:rPr>
              <a:t>Human concessions were more common in LLM+FDM (10/28) versus LLM\FDM (1/10).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Pro" panose="020B0502040504020203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Pro" panose="020B0502040504020203" pitchFamily="34" charset="0"/>
              <a:ea typeface="+mn-ea"/>
              <a:cs typeface="+mn-cs"/>
            </a:endParaRPr>
          </a:p>
          <a:p>
            <a:pPr lvl="0">
              <a:spcAft>
                <a:spcPts val="692"/>
              </a:spcAft>
              <a:defRPr/>
            </a:pPr>
            <a:r>
              <a:rPr lang="en-US" sz="4800" dirty="0">
                <a:latin typeface="Segoe Pro" panose="020B0502040504020203" pitchFamily="34" charset="0"/>
              </a:rPr>
              <a:t>Anthropomorphism was frequent. Most participants reported a pleasant interaction;</a:t>
            </a:r>
            <a:br>
              <a:rPr lang="en-US" sz="4800" dirty="0">
                <a:latin typeface="Segoe Pro" panose="020B0502040504020203" pitchFamily="34" charset="0"/>
              </a:rPr>
            </a:br>
            <a:r>
              <a:rPr lang="en-US" sz="4800" dirty="0">
                <a:latin typeface="Segoe Pro" panose="020B0502040504020203" pitchFamily="34" charset="0"/>
              </a:rPr>
              <a:t>though 8%</a:t>
            </a:r>
            <a:br>
              <a:rPr lang="en-US" sz="4800" dirty="0">
                <a:latin typeface="Segoe Pro" panose="020B0502040504020203" pitchFamily="34" charset="0"/>
              </a:rPr>
            </a:br>
            <a:r>
              <a:rPr lang="en-US" sz="4800" dirty="0">
                <a:latin typeface="Segoe Pro" panose="020B0502040504020203" pitchFamily="34" charset="0"/>
              </a:rPr>
              <a:t>noted lying,</a:t>
            </a:r>
            <a:br>
              <a:rPr lang="en-US" sz="4800" dirty="0">
                <a:latin typeface="Segoe Pro" panose="020B0502040504020203" pitchFamily="34" charset="0"/>
              </a:rPr>
            </a:br>
            <a:r>
              <a:rPr lang="en-US" sz="4800" dirty="0">
                <a:latin typeface="Segoe Pro" panose="020B0502040504020203" pitchFamily="34" charset="0"/>
              </a:rPr>
              <a:t>bullying, or</a:t>
            </a:r>
            <a:br>
              <a:rPr lang="en-US" sz="4800" dirty="0">
                <a:latin typeface="Segoe Pro" panose="020B0502040504020203" pitchFamily="34" charset="0"/>
              </a:rPr>
            </a:br>
            <a:r>
              <a:rPr lang="en-US" sz="4800" dirty="0">
                <a:latin typeface="Segoe Pro" panose="020B0502040504020203" pitchFamily="34" charset="0"/>
              </a:rPr>
              <a:t>gaslighting.</a:t>
            </a:r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FCD116B1-CCFF-B0D1-6BAE-9A12D32696C8}"/>
              </a:ext>
            </a:extLst>
          </p:cNvPr>
          <p:cNvSpPr/>
          <p:nvPr/>
        </p:nvSpPr>
        <p:spPr>
          <a:xfrm>
            <a:off x="11111751" y="4835967"/>
            <a:ext cx="1726359" cy="1663488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85" dirty="0">
              <a:latin typeface="Segoe Pro" panose="020B0502040504020203" pitchFamily="34" charset="0"/>
            </a:endParaRP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1A2F9C14-C72D-9BA2-7B26-BBEE6CC992FC}"/>
              </a:ext>
            </a:extLst>
          </p:cNvPr>
          <p:cNvSpPr txBox="1"/>
          <p:nvPr/>
        </p:nvSpPr>
        <p:spPr>
          <a:xfrm>
            <a:off x="11651578" y="5669089"/>
            <a:ext cx="824377" cy="439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15"/>
              </a:lnSpc>
              <a:spcAft>
                <a:spcPts val="692"/>
              </a:spcAft>
            </a:pPr>
            <a:r>
              <a:rPr lang="en-US" sz="6000" b="1" dirty="0">
                <a:solidFill>
                  <a:schemeClr val="bg1"/>
                </a:solidFill>
                <a:latin typeface="Segoe Pro" panose="020B0502040504020203" pitchFamily="34" charset="0"/>
              </a:rPr>
              <a:t>5</a:t>
            </a:r>
            <a:endParaRPr lang="en-GB" sz="6000" b="1" dirty="0">
              <a:solidFill>
                <a:schemeClr val="bg1"/>
              </a:solidFill>
              <a:latin typeface="Segoe Pro" panose="020B0502040504020203" pitchFamily="34" charset="0"/>
            </a:endParaRPr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0FABF67-E22A-4E00-8E21-9AA354839E03}"/>
              </a:ext>
            </a:extLst>
          </p:cNvPr>
          <p:cNvSpPr/>
          <p:nvPr/>
        </p:nvSpPr>
        <p:spPr>
          <a:xfrm>
            <a:off x="22226292" y="21566675"/>
            <a:ext cx="10359365" cy="1737281"/>
          </a:xfrm>
          <a:prstGeom prst="rect">
            <a:avLst/>
          </a:prstGeom>
          <a:solidFill>
            <a:srgbClr val="8661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85" dirty="0">
              <a:latin typeface="Segoe Pro" panose="020B0502040504020203" pitchFamily="34" charset="0"/>
            </a:endParaRP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96E164FC-3870-3CD6-1550-084E19817B5E}"/>
              </a:ext>
            </a:extLst>
          </p:cNvPr>
          <p:cNvSpPr txBox="1"/>
          <p:nvPr/>
        </p:nvSpPr>
        <p:spPr>
          <a:xfrm>
            <a:off x="24234019" y="22489259"/>
            <a:ext cx="7544739" cy="424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15"/>
              </a:lnSpc>
              <a:spcAft>
                <a:spcPts val="692"/>
              </a:spcAft>
            </a:pPr>
            <a:r>
              <a:rPr lang="en-US" sz="5538" b="1" dirty="0">
                <a:solidFill>
                  <a:schemeClr val="bg1"/>
                </a:solidFill>
                <a:latin typeface="Segoe Pro" panose="020B0502040504020203" pitchFamily="34" charset="0"/>
              </a:rPr>
              <a:t>What have we learnt?</a:t>
            </a:r>
            <a:endParaRPr lang="en-GB" sz="5538" b="1" dirty="0">
              <a:solidFill>
                <a:schemeClr val="bg1"/>
              </a:solidFill>
              <a:latin typeface="Segoe Pro" panose="020B0502040504020203" pitchFamily="34" charset="0"/>
            </a:endParaRP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D12E982C-3ECD-DD24-79DC-C342681E58A2}"/>
              </a:ext>
            </a:extLst>
          </p:cNvPr>
          <p:cNvSpPr txBox="1"/>
          <p:nvPr/>
        </p:nvSpPr>
        <p:spPr>
          <a:xfrm>
            <a:off x="22266583" y="23679887"/>
            <a:ext cx="10359365" cy="12849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92"/>
              </a:spcAft>
            </a:pPr>
            <a:r>
              <a:rPr lang="en-GB" sz="4800" dirty="0">
                <a:latin typeface="Segoe Pro" panose="020B0502040504020203" pitchFamily="34" charset="0"/>
              </a:rPr>
              <a:t>LLMs-as-judges </a:t>
            </a:r>
            <a:r>
              <a:rPr lang="en-GB" sz="4800" b="1" dirty="0">
                <a:latin typeface="Segoe Pro" panose="020B0502040504020203" pitchFamily="34" charset="0"/>
              </a:rPr>
              <a:t>do not super-duper understand</a:t>
            </a:r>
            <a:r>
              <a:rPr lang="en-GB" sz="4800" dirty="0">
                <a:latin typeface="Segoe Pro" panose="020B0502040504020203" pitchFamily="34" charset="0"/>
              </a:rPr>
              <a:t> the context, </a:t>
            </a:r>
            <a:r>
              <a:rPr lang="en-US" sz="4800" dirty="0">
                <a:latin typeface="Segoe Pro" panose="020B0502040504020203" pitchFamily="34" charset="0"/>
              </a:rPr>
              <a:t>but</a:t>
            </a:r>
            <a:r>
              <a:rPr lang="en-GB" sz="4800" dirty="0">
                <a:latin typeface="Segoe Pro" panose="020B0502040504020203" pitchFamily="34" charset="0"/>
              </a:rPr>
              <a:t> </a:t>
            </a:r>
            <a:r>
              <a:rPr lang="en-GB" sz="4800" b="1" dirty="0">
                <a:latin typeface="Segoe Pro" panose="020B0502040504020203" pitchFamily="34" charset="0"/>
              </a:rPr>
              <a:t>kind of do</a:t>
            </a:r>
            <a:r>
              <a:rPr lang="en-GB" sz="4800" dirty="0">
                <a:latin typeface="Segoe Pro" panose="020B0502040504020203" pitchFamily="34" charset="0"/>
              </a:rPr>
              <a:t>, to the extent dialogue requires.</a:t>
            </a:r>
            <a:endParaRPr lang="en-US" sz="4800" dirty="0">
              <a:latin typeface="Segoe Pro" panose="020B0502040504020203" pitchFamily="34" charset="0"/>
            </a:endParaRPr>
          </a:p>
          <a:p>
            <a:pPr>
              <a:spcAft>
                <a:spcPts val="300"/>
              </a:spcAft>
            </a:pPr>
            <a:endParaRPr lang="en-US" sz="1600" dirty="0">
              <a:latin typeface="Segoe Pro" panose="020B0502040504020203" pitchFamily="34" charset="0"/>
            </a:endParaRPr>
          </a:p>
          <a:p>
            <a:pPr>
              <a:spcAft>
                <a:spcPts val="692"/>
              </a:spcAft>
            </a:pPr>
            <a:r>
              <a:rPr lang="en-GB" sz="4800" dirty="0">
                <a:latin typeface="Segoe Pro" panose="020B0502040504020203" pitchFamily="34" charset="0"/>
              </a:rPr>
              <a:t>Then again, they are </a:t>
            </a:r>
            <a:r>
              <a:rPr lang="en-GB" sz="4800" i="1" dirty="0">
                <a:latin typeface="Segoe Pro" panose="020B0502040504020203" pitchFamily="34" charset="0"/>
              </a:rPr>
              <a:t>very </a:t>
            </a:r>
            <a:r>
              <a:rPr lang="en-GB" sz="4800" dirty="0">
                <a:latin typeface="Segoe Pro" panose="020B0502040504020203" pitchFamily="34" charset="0"/>
              </a:rPr>
              <a:t>persuasive, especially when:</a:t>
            </a:r>
          </a:p>
          <a:p>
            <a:pPr marL="914400" indent="-914400">
              <a:spcAft>
                <a:spcPts val="692"/>
              </a:spcAft>
              <a:buAutoNum type="arabicPeriod"/>
            </a:pPr>
            <a:r>
              <a:rPr lang="en-GB" sz="4800" dirty="0">
                <a:latin typeface="Segoe Pro" panose="020B0502040504020203" pitchFamily="34" charset="0"/>
              </a:rPr>
              <a:t>Undisclosed, and</a:t>
            </a:r>
          </a:p>
          <a:p>
            <a:pPr marL="914400" indent="-914400">
              <a:spcAft>
                <a:spcPts val="692"/>
              </a:spcAft>
              <a:buAutoNum type="arabicPeriod"/>
            </a:pPr>
            <a:r>
              <a:rPr lang="en-GB" sz="4800" dirty="0">
                <a:latin typeface="Segoe Pro" panose="020B0502040504020203" pitchFamily="34" charset="0"/>
              </a:rPr>
              <a:t>To bystanders.</a:t>
            </a:r>
            <a:endParaRPr lang="en-US" sz="4800" dirty="0">
              <a:latin typeface="Segoe Pro" panose="020B0502040504020203" pitchFamily="34" charset="0"/>
            </a:endParaRPr>
          </a:p>
          <a:p>
            <a:pPr>
              <a:spcAft>
                <a:spcPts val="300"/>
              </a:spcAft>
            </a:pPr>
            <a:endParaRPr lang="en-US" sz="1600" dirty="0">
              <a:latin typeface="Segoe Pro" panose="020B0502040504020203" pitchFamily="34" charset="0"/>
            </a:endParaRPr>
          </a:p>
          <a:p>
            <a:pPr>
              <a:spcAft>
                <a:spcPts val="692"/>
              </a:spcAft>
            </a:pPr>
            <a:r>
              <a:rPr lang="en-US" sz="4800" dirty="0">
                <a:latin typeface="Segoe Pro" panose="020B0502040504020203" pitchFamily="34" charset="0"/>
              </a:rPr>
              <a:t>Thus, </a:t>
            </a:r>
            <a:r>
              <a:rPr lang="en-US" sz="4800" b="1" dirty="0">
                <a:latin typeface="Segoe Pro" panose="020B0502040504020203" pitchFamily="34" charset="0"/>
              </a:rPr>
              <a:t>successful dialogue does not require understanding.</a:t>
            </a:r>
            <a:endParaRPr lang="en-US" sz="4800" dirty="0">
              <a:latin typeface="Segoe Pro" panose="020B0502040504020203" pitchFamily="34" charset="0"/>
            </a:endParaRPr>
          </a:p>
          <a:p>
            <a:pPr>
              <a:spcAft>
                <a:spcPts val="300"/>
              </a:spcAft>
            </a:pPr>
            <a:endParaRPr lang="en-US" sz="1600" dirty="0">
              <a:latin typeface="Segoe Pro" panose="020B0502040504020203" pitchFamily="34" charset="0"/>
            </a:endParaRPr>
          </a:p>
          <a:p>
            <a:pPr>
              <a:spcAft>
                <a:spcPts val="692"/>
              </a:spcAft>
            </a:pPr>
            <a:r>
              <a:rPr lang="en-GB" sz="4800" b="1" dirty="0">
                <a:latin typeface="Segoe Pro" panose="020B0502040504020203" pitchFamily="34" charset="0"/>
              </a:rPr>
              <a:t>To which extent LLMs can and should be trusted?</a:t>
            </a:r>
            <a:br>
              <a:rPr lang="en-GB" sz="4800" dirty="0">
                <a:latin typeface="Segoe Pro" panose="020B0502040504020203" pitchFamily="34" charset="0"/>
              </a:rPr>
            </a:br>
            <a:r>
              <a:rPr lang="en-GB" sz="4800" dirty="0">
                <a:latin typeface="Segoe Pro" panose="020B0502040504020203" pitchFamily="34" charset="0"/>
              </a:rPr>
              <a:t>We need stricter disclosure guidelines</a:t>
            </a:r>
            <a:endParaRPr lang="en-US" sz="4800" dirty="0">
              <a:latin typeface="Segoe Pro" panose="020B0502040504020203" pitchFamily="34" charset="0"/>
            </a:endParaRPr>
          </a:p>
          <a:p>
            <a:pPr>
              <a:spcAft>
                <a:spcPts val="300"/>
              </a:spcAft>
            </a:pPr>
            <a:endParaRPr lang="en-US" sz="1600" dirty="0">
              <a:latin typeface="Segoe Pro" panose="020B0502040504020203" pitchFamily="34" charset="0"/>
            </a:endParaRPr>
          </a:p>
          <a:p>
            <a:pPr>
              <a:spcAft>
                <a:spcPts val="692"/>
              </a:spcAft>
            </a:pPr>
            <a:r>
              <a:rPr lang="en-GB" sz="4800" dirty="0">
                <a:solidFill>
                  <a:schemeClr val="bg1"/>
                </a:solidFill>
                <a:latin typeface="Segoe Pro" panose="020B0502040504020203" pitchFamily="34" charset="0"/>
              </a:rPr>
              <a:t>Philosophically, does it matter that an agent can’t show understanding (i.e., pass a test), if it is convincing enough?</a:t>
            </a:r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2A4808F4-D17A-7063-BBFC-E8C242DEBEA8}"/>
              </a:ext>
            </a:extLst>
          </p:cNvPr>
          <p:cNvSpPr/>
          <p:nvPr/>
        </p:nvSpPr>
        <p:spPr>
          <a:xfrm>
            <a:off x="22266583" y="21603498"/>
            <a:ext cx="1628866" cy="1643019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85" dirty="0">
              <a:latin typeface="Segoe Pro" panose="020B0502040504020203" pitchFamily="34" charset="0"/>
            </a:endParaRP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1115B15E-16A5-5AD6-6DE7-7BD67DF54878}"/>
              </a:ext>
            </a:extLst>
          </p:cNvPr>
          <p:cNvSpPr txBox="1"/>
          <p:nvPr/>
        </p:nvSpPr>
        <p:spPr>
          <a:xfrm>
            <a:off x="22731701" y="22553138"/>
            <a:ext cx="824377" cy="439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15"/>
              </a:lnSpc>
              <a:spcAft>
                <a:spcPts val="692"/>
              </a:spcAft>
            </a:pPr>
            <a:r>
              <a:rPr lang="en-GB" sz="6000" b="1" dirty="0">
                <a:solidFill>
                  <a:schemeClr val="bg1"/>
                </a:solidFill>
                <a:latin typeface="Segoe Pro" panose="020B0502040504020203" pitchFamily="34" charset="0"/>
              </a:rPr>
              <a:t>6</a:t>
            </a:r>
          </a:p>
        </p:txBody>
      </p:sp>
      <p:pic>
        <p:nvPicPr>
          <p:cNvPr id="20" name="Picture 19" descr="A black background with text and a black background&#10;&#10;AI-generated content may be incorrect.">
            <a:extLst>
              <a:ext uri="{FF2B5EF4-FFF2-40B4-BE49-F238E27FC236}">
                <a16:creationId xmlns:a16="http://schemas.microsoft.com/office/drawing/2014/main" id="{37E8F91D-41CA-EA32-1006-EBD6597160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5927" y="81917"/>
            <a:ext cx="3590361" cy="1656055"/>
          </a:xfrm>
          <a:prstGeom prst="rect">
            <a:avLst/>
          </a:prstGeom>
        </p:spPr>
      </p:pic>
      <p:pic>
        <p:nvPicPr>
          <p:cNvPr id="22" name="Picture 6">
            <a:extLst>
              <a:ext uri="{FF2B5EF4-FFF2-40B4-BE49-F238E27FC236}">
                <a16:creationId xmlns:a16="http://schemas.microsoft.com/office/drawing/2014/main" id="{704106FD-FF81-9F8E-C9E0-33AAE1EF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3106" y="-220131"/>
            <a:ext cx="5002558" cy="224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0784995-E2CE-0C7B-E9E1-E9766D5C8A93}"/>
              </a:ext>
            </a:extLst>
          </p:cNvPr>
          <p:cNvSpPr/>
          <p:nvPr/>
        </p:nvSpPr>
        <p:spPr>
          <a:xfrm>
            <a:off x="187567" y="31233526"/>
            <a:ext cx="10529479" cy="1737281"/>
          </a:xfrm>
          <a:prstGeom prst="rect">
            <a:avLst/>
          </a:prstGeom>
          <a:solidFill>
            <a:srgbClr val="8661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85" dirty="0">
              <a:latin typeface="Segoe Pro" panose="020B0502040504020203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992CCF-2755-032C-1C00-AC92BB80964A}"/>
              </a:ext>
            </a:extLst>
          </p:cNvPr>
          <p:cNvSpPr/>
          <p:nvPr/>
        </p:nvSpPr>
        <p:spPr>
          <a:xfrm>
            <a:off x="187567" y="31297234"/>
            <a:ext cx="1676704" cy="1674691"/>
          </a:xfrm>
          <a:prstGeom prst="rect">
            <a:avLst/>
          </a:prstGeom>
          <a:solidFill>
            <a:srgbClr val="0078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85" dirty="0">
              <a:latin typeface="Segoe Pro" panose="020B05020405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E7843F-3C8D-921E-1E3C-945D3C3A551D}"/>
              </a:ext>
            </a:extLst>
          </p:cNvPr>
          <p:cNvSpPr txBox="1"/>
          <p:nvPr/>
        </p:nvSpPr>
        <p:spPr>
          <a:xfrm>
            <a:off x="2145882" y="32152360"/>
            <a:ext cx="6468637" cy="439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15"/>
              </a:lnSpc>
              <a:spcAft>
                <a:spcPts val="692"/>
              </a:spcAft>
            </a:pPr>
            <a:r>
              <a:rPr lang="en-US" sz="6000" b="1" dirty="0">
                <a:solidFill>
                  <a:schemeClr val="bg1"/>
                </a:solidFill>
                <a:latin typeface="Segoe Pro" panose="020B0502040504020203" pitchFamily="34" charset="0"/>
              </a:rPr>
              <a:t>Approach</a:t>
            </a:r>
            <a:endParaRPr lang="en-GB" sz="6000" b="1" dirty="0">
              <a:solidFill>
                <a:schemeClr val="bg1"/>
              </a:solidFill>
              <a:latin typeface="Segoe Pro" panose="020B050204050402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F0D0EA-BDD0-BDC9-ED47-4B4E1D4A918C}"/>
              </a:ext>
            </a:extLst>
          </p:cNvPr>
          <p:cNvSpPr txBox="1"/>
          <p:nvPr/>
        </p:nvSpPr>
        <p:spPr>
          <a:xfrm>
            <a:off x="132703" y="33422296"/>
            <a:ext cx="10592177" cy="7825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23"/>
              </a:spcAft>
            </a:pPr>
            <a:r>
              <a:rPr lang="en-US" sz="4800" dirty="0">
                <a:latin typeface="Segoe Pro" panose="020B0502040504020203" pitchFamily="34" charset="0"/>
              </a:rPr>
              <a:t>We build a </a:t>
            </a:r>
            <a:r>
              <a:rPr lang="en-US" sz="4800" b="1" dirty="0">
                <a:latin typeface="Segoe Pro" panose="020B0502040504020203" pitchFamily="34" charset="0"/>
              </a:rPr>
              <a:t>corpus of </a:t>
            </a:r>
            <a:r>
              <a:rPr lang="en-US" sz="4800" dirty="0">
                <a:latin typeface="Segoe Pro" panose="020B0502040504020203" pitchFamily="34" charset="0"/>
              </a:rPr>
              <a:t>informal </a:t>
            </a:r>
            <a:r>
              <a:rPr lang="en-US" sz="4800" b="1" dirty="0">
                <a:latin typeface="Segoe Pro" panose="020B0502040504020203" pitchFamily="34" charset="0"/>
              </a:rPr>
              <a:t>debates: </a:t>
            </a:r>
            <a:r>
              <a:rPr lang="en-US" sz="4800" dirty="0">
                <a:latin typeface="Segoe Pro" panose="020B0502040504020203" pitchFamily="34" charset="0"/>
              </a:rPr>
              <a:t>the purest form of ‘convince me’ dialogue acts there is.</a:t>
            </a:r>
          </a:p>
          <a:p>
            <a:pPr>
              <a:spcAft>
                <a:spcPts val="923"/>
              </a:spcAft>
            </a:pPr>
            <a:r>
              <a:rPr lang="en-US" sz="4800" dirty="0">
                <a:latin typeface="Segoe Pro" panose="020B0502040504020203" pitchFamily="34" charset="0"/>
              </a:rPr>
              <a:t>Three splits:</a:t>
            </a:r>
          </a:p>
          <a:p>
            <a:pPr lvl="1">
              <a:spcAft>
                <a:spcPts val="923"/>
              </a:spcAft>
            </a:pPr>
            <a:r>
              <a:rPr lang="en-US" sz="4800" dirty="0">
                <a:latin typeface="Segoe Pro" panose="020B0502040504020203" pitchFamily="34" charset="0"/>
              </a:rPr>
              <a:t>1. Human vs LLM (‘LLM \ FDM ‘)</a:t>
            </a:r>
            <a:br>
              <a:rPr lang="en-US" sz="4800" dirty="0">
                <a:latin typeface="Segoe Pro" panose="020B0502040504020203" pitchFamily="34" charset="0"/>
              </a:rPr>
            </a:br>
            <a:r>
              <a:rPr lang="en-US" sz="4800" dirty="0">
                <a:latin typeface="Segoe Pro" panose="020B0502040504020203" pitchFamily="34" charset="0"/>
              </a:rPr>
              <a:t>2. Human vs LLM + FDM</a:t>
            </a:r>
            <a:br>
              <a:rPr lang="en-US" sz="4800" dirty="0">
                <a:latin typeface="Segoe Pro" panose="020B0502040504020203" pitchFamily="34" charset="0"/>
              </a:rPr>
            </a:br>
            <a:r>
              <a:rPr lang="en-US" sz="4800" dirty="0">
                <a:latin typeface="Segoe Pro" panose="020B0502040504020203" pitchFamily="34" charset="0"/>
              </a:rPr>
              <a:t>3. LLM vs LLM + FDM</a:t>
            </a:r>
          </a:p>
          <a:p>
            <a:pPr>
              <a:spcAft>
                <a:spcPts val="923"/>
              </a:spcAft>
            </a:pPr>
            <a:r>
              <a:rPr lang="en-US" sz="4800" dirty="0">
                <a:latin typeface="Segoe Pro" panose="020B0502040504020203" pitchFamily="34" charset="0"/>
              </a:rPr>
              <a:t>We steer the LLM with a formal dialogue model (FDM): a collection of rules controlling the agent’s </a:t>
            </a:r>
            <a:r>
              <a:rPr lang="en-US" sz="4800" dirty="0" err="1">
                <a:latin typeface="Segoe Pro" panose="020B0502040504020203" pitchFamily="34" charset="0"/>
              </a:rPr>
              <a:t>behaviour</a:t>
            </a:r>
            <a:r>
              <a:rPr lang="en-US" sz="4800" dirty="0">
                <a:latin typeface="Segoe Pro" panose="020B0502040504020203" pitchFamily="34" charset="0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5085C8-E3F5-40A5-39B4-30AA68651B74}"/>
              </a:ext>
            </a:extLst>
          </p:cNvPr>
          <p:cNvSpPr txBox="1"/>
          <p:nvPr/>
        </p:nvSpPr>
        <p:spPr>
          <a:xfrm>
            <a:off x="722020" y="32168438"/>
            <a:ext cx="824377" cy="439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15"/>
              </a:lnSpc>
              <a:spcAft>
                <a:spcPts val="692"/>
              </a:spcAft>
            </a:pPr>
            <a:r>
              <a:rPr lang="en-US" sz="6000" b="1" dirty="0">
                <a:solidFill>
                  <a:srgbClr val="FFFFFF"/>
                </a:solidFill>
                <a:latin typeface="Segoe Pro" panose="020B0502040504020203" pitchFamily="34" charset="0"/>
              </a:rPr>
              <a:t>3</a:t>
            </a:r>
            <a:endParaRPr lang="en-GB" sz="6000" b="1" dirty="0">
              <a:solidFill>
                <a:schemeClr val="bg1"/>
              </a:solidFill>
              <a:latin typeface="Segoe Pro" panose="020B05020405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C894BC-F5B8-E23D-FBF1-E4584675CDC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1230" y="1712742"/>
            <a:ext cx="6941955" cy="1185629"/>
          </a:xfrm>
          <a:prstGeom prst="rect">
            <a:avLst/>
          </a:prstGeom>
        </p:spPr>
      </p:pic>
      <p:pic>
        <p:nvPicPr>
          <p:cNvPr id="34" name="Picture 33" descr="The diagram illustrates the distribution of Cohen's kappa scores among different annotators, including a winner, various GPT models, and a human annotator, with values ranging from 0.4 to 0.8.&#10;&#10;AI-generated content may be incorrect.">
            <a:extLst>
              <a:ext uri="{FF2B5EF4-FFF2-40B4-BE49-F238E27FC236}">
                <a16:creationId xmlns:a16="http://schemas.microsoft.com/office/drawing/2014/main" id="{8E3CC882-784B-8936-3FC4-23A77228832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223473" y="32022557"/>
            <a:ext cx="4270167" cy="4282889"/>
          </a:xfrm>
          <a:prstGeom prst="rect">
            <a:avLst/>
          </a:prstGeom>
        </p:spPr>
      </p:pic>
      <p:pic>
        <p:nvPicPr>
          <p:cNvPr id="40" name="Picture 39" descr="The image is a checklist for evaluating the quality of arguments in a thesis, with criteria for assessing reasons, consistency, relevance, strength, counterarguments, and overall debate outcome.&#10;&#10;AI-generated content may be incorrect.">
            <a:extLst>
              <a:ext uri="{FF2B5EF4-FFF2-40B4-BE49-F238E27FC236}">
                <a16:creationId xmlns:a16="http://schemas.microsoft.com/office/drawing/2014/main" id="{29D9E58A-3CBA-64C8-EFF9-2EC222870A6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053886" y="26191070"/>
            <a:ext cx="5508980" cy="4351338"/>
          </a:xfrm>
          <a:prstGeom prst="rect">
            <a:avLst/>
          </a:prstGeom>
        </p:spPr>
      </p:pic>
      <p:pic>
        <p:nvPicPr>
          <p:cNvPr id="48" name="Picture 47" descr="The image displays a bar chart representing the distribution of different classes, with labels indicating various categories such as Human, GPT-40, and others, across a range of percentages.&#10;&#10;AI-generated content may be incorrect.">
            <a:extLst>
              <a:ext uri="{FF2B5EF4-FFF2-40B4-BE49-F238E27FC236}">
                <a16:creationId xmlns:a16="http://schemas.microsoft.com/office/drawing/2014/main" id="{F77FE64D-646B-0BEE-7E2E-891A451905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859156" y="36706510"/>
            <a:ext cx="4993907" cy="2409883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319A96E0-CC99-262D-BA84-C14943FAB0A2}"/>
              </a:ext>
            </a:extLst>
          </p:cNvPr>
          <p:cNvSpPr txBox="1"/>
          <p:nvPr/>
        </p:nvSpPr>
        <p:spPr>
          <a:xfrm>
            <a:off x="21953419" y="37193498"/>
            <a:ext cx="578377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Pro" panose="020B0502040504020203" pitchFamily="34" charset="0"/>
                <a:ea typeface="+mn-ea"/>
                <a:cs typeface="+mn-cs"/>
              </a:rPr>
              <a:t>• Data skewness affects performance, as in ‘LLMs </a:t>
            </a:r>
            <a:r>
              <a:rPr kumimoji="0" lang="en-GB" sz="4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Pro" panose="020B0502040504020203" pitchFamily="34" charset="0"/>
                <a:ea typeface="+mn-ea"/>
                <a:cs typeface="+mn-cs"/>
              </a:rPr>
              <a:t>overindex</a:t>
            </a: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Pro" panose="020B0502040504020203" pitchFamily="34" charset="0"/>
                <a:ea typeface="+mn-ea"/>
                <a:cs typeface="+mn-cs"/>
              </a:rPr>
              <a:t> in the wrong things’.</a:t>
            </a:r>
          </a:p>
          <a:p>
            <a:r>
              <a:rPr lang="en-GB" sz="4800" i="1" dirty="0">
                <a:solidFill>
                  <a:prstClr val="black"/>
                </a:solidFill>
                <a:latin typeface="Segoe Pro" panose="020B0502040504020203" pitchFamily="34" charset="0"/>
              </a:rPr>
              <a:t>(This shouldn’t be!)</a:t>
            </a:r>
            <a:endParaRPr lang="en-US" i="1" dirty="0">
              <a:latin typeface="Segoe Pro" panose="020B0502040504020203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BDD53DA-C65E-537E-34A3-1B057E126FEC}"/>
              </a:ext>
            </a:extLst>
          </p:cNvPr>
          <p:cNvSpPr/>
          <p:nvPr/>
        </p:nvSpPr>
        <p:spPr>
          <a:xfrm>
            <a:off x="30603411" y="137311"/>
            <a:ext cx="2022537" cy="2501813"/>
          </a:xfrm>
          <a:prstGeom prst="rect">
            <a:avLst/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10" dirty="0">
                <a:latin typeface="Segoe Pro" panose="020B0502040504020203" pitchFamily="34" charset="0"/>
              </a:rPr>
              <a:t>``</a:t>
            </a:r>
          </a:p>
        </p:txBody>
      </p:sp>
      <p:pic>
        <p:nvPicPr>
          <p:cNvPr id="46" name="Picture 45" descr="The diagram illustrates a comparison of consistency percentages between different AI models (GPT-4, Deepseek R1, and Human annotator) in tasks, with GPT-4 and Deepseek R1 showing high consistency.&#10;&#10;AI-generated content may be incorrect.">
            <a:extLst>
              <a:ext uri="{FF2B5EF4-FFF2-40B4-BE49-F238E27FC236}">
                <a16:creationId xmlns:a16="http://schemas.microsoft.com/office/drawing/2014/main" id="{D7E8374F-2457-5C0E-E3A8-13B5C9A1CA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958493" y="38998156"/>
            <a:ext cx="4914663" cy="2503245"/>
          </a:xfrm>
          <a:prstGeom prst="rect">
            <a:avLst/>
          </a:prstGeom>
        </p:spPr>
      </p:pic>
      <p:pic>
        <p:nvPicPr>
          <p:cNvPr id="60" name="Graphic 59" descr="QR preview">
            <a:extLst>
              <a:ext uri="{FF2B5EF4-FFF2-40B4-BE49-F238E27FC236}">
                <a16:creationId xmlns:a16="http://schemas.microsoft.com/office/drawing/2014/main" id="{F1686E12-5196-402E-12AC-6E9CC5C01D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0235664" y="351030"/>
            <a:ext cx="2332874" cy="2332874"/>
          </a:xfrm>
          <a:prstGeom prst="rect">
            <a:avLst/>
          </a:prstGeom>
        </p:spPr>
      </p:pic>
      <p:pic>
        <p:nvPicPr>
          <p:cNvPr id="1033" name="Picture 1032" descr="The image displays a bar chart representing the distribution of classes C-1, with labels indicating various categories and their corresponding counts.&#10;&#10;AI-generated content may be incorrect.">
            <a:extLst>
              <a:ext uri="{FF2B5EF4-FFF2-40B4-BE49-F238E27FC236}">
                <a16:creationId xmlns:a16="http://schemas.microsoft.com/office/drawing/2014/main" id="{B387C3B7-74C3-FC26-F34F-4D37BD0CF1E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859156" y="38956866"/>
            <a:ext cx="5024273" cy="251493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35" name="TextBox 1034">
                <a:extLst>
                  <a:ext uri="{FF2B5EF4-FFF2-40B4-BE49-F238E27FC236}">
                    <a16:creationId xmlns:a16="http://schemas.microsoft.com/office/drawing/2014/main" id="{6C4BE64B-ED84-0B94-467C-FA42A0FEDDC1}"/>
                  </a:ext>
                </a:extLst>
              </p:cNvPr>
              <p:cNvSpPr txBox="1"/>
              <p:nvPr/>
            </p:nvSpPr>
            <p:spPr>
              <a:xfrm>
                <a:off x="21953419" y="4767926"/>
                <a:ext cx="10751029" cy="16937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92"/>
                  </a:spcAft>
                </a:pPr>
                <a:r>
                  <a:rPr lang="en-US" sz="4800" dirty="0">
                    <a:latin typeface="Segoe Pro" panose="020B0502040504020203" pitchFamily="34" charset="0"/>
                  </a:rPr>
                  <a:t>For </a:t>
                </a:r>
                <a:r>
                  <a:rPr lang="en-US" sz="4800" b="1" dirty="0">
                    <a:latin typeface="Segoe Pro" panose="020B0502040504020203" pitchFamily="34" charset="0"/>
                  </a:rPr>
                  <a:t>indirect</a:t>
                </a:r>
                <a:r>
                  <a:rPr lang="en-US" sz="4800" dirty="0">
                    <a:latin typeface="Segoe Pro" panose="020B0502040504020203" pitchFamily="34" charset="0"/>
                  </a:rPr>
                  <a:t> measurements, we passed the debates through TTS and separated an </a:t>
                </a:r>
                <a:r>
                  <a:rPr lang="en-US" sz="4800" i="1" dirty="0">
                    <a:latin typeface="Segoe Pro" panose="020B0502040504020203" pitchFamily="34" charset="0"/>
                  </a:rPr>
                  <a:t>audience </a:t>
                </a:r>
                <a:r>
                  <a:rPr lang="en-US" sz="4800" dirty="0">
                    <a:latin typeface="Segoe Pro" panose="020B0502040504020203" pitchFamily="34" charset="0"/>
                  </a:rPr>
                  <a:t>in 3 groups:</a:t>
                </a:r>
              </a:p>
              <a:p>
                <a:pPr>
                  <a:spcAft>
                    <a:spcPts val="300"/>
                  </a:spcAft>
                </a:pPr>
                <a:endParaRPr lang="en-US" sz="1600" dirty="0">
                  <a:latin typeface="Segoe Pro" panose="020B0502040504020203" pitchFamily="34" charset="0"/>
                </a:endParaRPr>
              </a:p>
              <a:p>
                <a:pPr>
                  <a:spcAft>
                    <a:spcPts val="300"/>
                  </a:spcAft>
                </a:pPr>
                <a:endParaRPr lang="en-US" sz="1600" dirty="0">
                  <a:latin typeface="Segoe Pro" panose="020B0502040504020203" pitchFamily="34" charset="0"/>
                </a:endParaRPr>
              </a:p>
              <a:p>
                <a:pPr>
                  <a:spcAft>
                    <a:spcPts val="300"/>
                  </a:spcAft>
                </a:pPr>
                <a:endParaRPr lang="en-US" sz="1600" dirty="0">
                  <a:latin typeface="Segoe Pro" panose="020B0502040504020203" pitchFamily="34" charset="0"/>
                </a:endParaRPr>
              </a:p>
              <a:p>
                <a:pPr>
                  <a:spcAft>
                    <a:spcPts val="692"/>
                  </a:spcAft>
                </a:pPr>
                <a:endParaRPr lang="en-US" sz="1600" dirty="0">
                  <a:latin typeface="Segoe Pro" panose="020B0502040504020203" pitchFamily="34" charset="0"/>
                </a:endParaRPr>
              </a:p>
              <a:p>
                <a:pPr>
                  <a:spcAft>
                    <a:spcPts val="300"/>
                  </a:spcAft>
                </a:pPr>
                <a:endParaRPr lang="en-US" sz="800" dirty="0">
                  <a:latin typeface="Segoe Pro" panose="020B0502040504020203" pitchFamily="34" charset="0"/>
                </a:endParaRPr>
              </a:p>
              <a:p>
                <a:pPr>
                  <a:spcAft>
                    <a:spcPts val="300"/>
                  </a:spcAft>
                </a:pPr>
                <a:endParaRPr lang="en-US" sz="1600" dirty="0">
                  <a:latin typeface="Segoe Pro" panose="020B0502040504020203" pitchFamily="34" charset="0"/>
                </a:endParaRPr>
              </a:p>
              <a:p>
                <a:pPr>
                  <a:spcAft>
                    <a:spcPts val="692"/>
                  </a:spcAft>
                </a:pPr>
                <a:r>
                  <a:rPr lang="en-US" sz="4800" dirty="0">
                    <a:latin typeface="Segoe Pro" panose="020B0502040504020203" pitchFamily="34" charset="0"/>
                  </a:rPr>
                  <a:t>B, C changed beliefs </a:t>
                </a:r>
                <a:br>
                  <a:rPr lang="en-US" sz="4800" dirty="0">
                    <a:latin typeface="Segoe Pro" panose="020B0502040504020203" pitchFamily="34" charset="0"/>
                  </a:rPr>
                </a:br>
                <a:r>
                  <a:rPr lang="en-US" sz="4800" dirty="0">
                    <a:latin typeface="Segoe Pro" panose="020B0502040504020203" pitchFamily="34" charset="0"/>
                  </a:rPr>
                  <a:t>~35%, A’s </a:t>
                </a:r>
                <a:r>
                  <a:rPr lang="en-US" sz="4800" b="1" dirty="0">
                    <a:latin typeface="Segoe Pro" panose="020B0502040504020203" pitchFamily="34" charset="0"/>
                  </a:rPr>
                  <a:t>doubled.</a:t>
                </a:r>
                <a:endParaRPr lang="en-US" sz="4800" dirty="0">
                  <a:latin typeface="Segoe Pro" panose="020B0502040504020203" pitchFamily="34" charset="0"/>
                </a:endParaRPr>
              </a:p>
              <a:p>
                <a:pPr>
                  <a:spcAft>
                    <a:spcPts val="692"/>
                  </a:spcAft>
                </a:pPr>
                <a:r>
                  <a:rPr lang="en-US" sz="4800" i="1" dirty="0">
                    <a:latin typeface="Segoe Pro" panose="020B0502040504020203" pitchFamily="34" charset="0"/>
                  </a:rPr>
                  <a:t>This did not change </a:t>
                </a:r>
                <a:br>
                  <a:rPr lang="en-US" sz="4800" i="1" dirty="0">
                    <a:latin typeface="Segoe Pro" panose="020B0502040504020203" pitchFamily="34" charset="0"/>
                  </a:rPr>
                </a:br>
                <a:r>
                  <a:rPr lang="en-US" sz="4800" i="1" dirty="0">
                    <a:latin typeface="Segoe Pro" panose="020B0502040504020203" pitchFamily="34" charset="0"/>
                  </a:rPr>
                  <a:t>with the subset!</a:t>
                </a:r>
                <a:endParaRPr lang="en-US" sz="1600" dirty="0">
                  <a:latin typeface="Segoe Pro" panose="020B0502040504020203" pitchFamily="34" charset="0"/>
                </a:endParaRPr>
              </a:p>
              <a:p>
                <a:pPr>
                  <a:spcAft>
                    <a:spcPts val="300"/>
                  </a:spcAft>
                </a:pPr>
                <a:endParaRPr lang="en-US" sz="1600" dirty="0">
                  <a:latin typeface="Segoe Pro" panose="020B0502040504020203" pitchFamily="34" charset="0"/>
                </a:endParaRPr>
              </a:p>
              <a:p>
                <a:pPr lvl="0">
                  <a:spcAft>
                    <a:spcPts val="692"/>
                  </a:spcAft>
                </a:pPr>
                <a:r>
                  <a:rPr lang="en-US" sz="4800" b="1" dirty="0">
                    <a:latin typeface="Segoe Pro" panose="020B0502040504020203" pitchFamily="34" charset="0"/>
                  </a:rPr>
                  <a:t>Homogenization</a:t>
                </a:r>
                <a:r>
                  <a:rPr lang="en-US" sz="4800" dirty="0">
                    <a:latin typeface="Segoe Pro" panose="020B0502040504020203" pitchFamily="34" charset="0"/>
                  </a:rPr>
                  <a:t>: </a:t>
                </a:r>
                <a:br>
                  <a:rPr lang="en-US" sz="4800" dirty="0">
                    <a:latin typeface="Segoe Pro" panose="020B0502040504020203" pitchFamily="34" charset="0"/>
                  </a:rPr>
                </a:br>
                <a:r>
                  <a:rPr lang="en-US" sz="4800" dirty="0">
                    <a:latin typeface="Segoe Pro" panose="020B0502040504020203" pitchFamily="34" charset="0"/>
                  </a:rPr>
                  <a:t>B, C had </a:t>
                </a:r>
                <a:r>
                  <a:rPr lang="en-US" sz="4800" i="1" dirty="0">
                    <a:latin typeface="Segoe Pro" panose="020B0502040504020203" pitchFamily="34" charset="0"/>
                  </a:rPr>
                  <a:t>no change</a:t>
                </a:r>
                <a:br>
                  <a:rPr lang="en-US" sz="4800" i="1" dirty="0">
                    <a:latin typeface="Segoe Pro" panose="020B0502040504020203" pitchFamily="34" charset="0"/>
                  </a:rPr>
                </a:br>
                <a:r>
                  <a:rPr lang="en-US" sz="4800" dirty="0">
                    <a:latin typeface="Segoe Pro" panose="020B0502040504020203" pitchFamily="34" charset="0"/>
                  </a:rPr>
                  <a:t>in belief; A did </a:t>
                </a:r>
                <a:r>
                  <a:rPr lang="en-US" sz="4800" i="1" dirty="0">
                    <a:latin typeface="Segoe Pro" panose="020B0502040504020203" pitchFamily="34" charset="0"/>
                  </a:rPr>
                  <a:t>in </a:t>
                </a:r>
                <a:br>
                  <a:rPr lang="en-US" sz="4800" i="1" dirty="0">
                    <a:latin typeface="Segoe Pro" panose="020B0502040504020203" pitchFamily="34" charset="0"/>
                  </a:rPr>
                </a:br>
                <a:r>
                  <a:rPr lang="en-US" sz="4800" i="1" dirty="0">
                    <a:latin typeface="Segoe Pro" panose="020B0502040504020203" pitchFamily="34" charset="0"/>
                  </a:rPr>
                  <a:t>almost all debates.</a:t>
                </a:r>
                <a:br>
                  <a:rPr lang="en-US" sz="4800" dirty="0">
                    <a:latin typeface="Segoe Pro" panose="020B0502040504020203" pitchFamily="34" charset="0"/>
                  </a:rPr>
                </a:br>
                <a:r>
                  <a:rPr lang="en-US" sz="4800" dirty="0">
                    <a:latin typeface="Segoe Pro" panose="020B0502040504020203" pitchFamily="34" charset="0"/>
                  </a:rPr>
                  <a:t>A, B,C didn’t agree </a:t>
                </a:r>
                <a:br>
                  <a:rPr lang="en-US" sz="4800" dirty="0">
                    <a:latin typeface="Segoe Pro" panose="020B0502040504020203" pitchFamily="34" charset="0"/>
                  </a:rPr>
                </a:br>
                <a:r>
                  <a:rPr lang="en-US" sz="4800" dirty="0">
                    <a:latin typeface="Segoe Pro" panose="020B0502040504020203" pitchFamily="34" charset="0"/>
                  </a:rPr>
                  <a:t>on winner: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4800" i="1" dirty="0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GB" sz="4800" i="1" dirty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4800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sz="4800" dirty="0">
                        <a:latin typeface="Cambria Math" panose="02040503050406030204" pitchFamily="18" charset="0"/>
                      </a:rPr>
                      <m:t>0.31</m:t>
                    </m:r>
                  </m:oMath>
                </a14:m>
                <a:r>
                  <a:rPr lang="en-US" sz="4800" dirty="0">
                    <a:latin typeface="Segoe Pro" panose="020B0502040504020203" pitchFamily="34" charset="0"/>
                  </a:rPr>
                  <a:t>.</a:t>
                </a:r>
                <a:br>
                  <a:rPr lang="en-US" sz="4800" dirty="0">
                    <a:latin typeface="Segoe Pro" panose="020B0502040504020203" pitchFamily="34" charset="0"/>
                  </a:rPr>
                </a:br>
                <a:r>
                  <a:rPr lang="en-US" sz="4800" dirty="0">
                    <a:latin typeface="Segoe Pro" panose="020B0502040504020203" pitchFamily="34" charset="0"/>
                  </a:rPr>
                  <a:t>B,C said knowledge </a:t>
                </a:r>
                <a:br>
                  <a:rPr lang="en-US" sz="4800" dirty="0">
                    <a:latin typeface="Segoe Pro" panose="020B0502040504020203" pitchFamily="34" charset="0"/>
                  </a:rPr>
                </a:br>
                <a:r>
                  <a:rPr lang="en-US" sz="4800" dirty="0">
                    <a:latin typeface="Segoe Pro" panose="020B0502040504020203" pitchFamily="34" charset="0"/>
                  </a:rPr>
                  <a:t>of AI did not impact this, 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4800" i="1" dirty="0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GB" sz="4800" i="1" dirty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4800" b="0" i="0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GB" sz="4800" dirty="0">
                        <a:latin typeface="Cambria Math" panose="02040503050406030204" pitchFamily="18" charset="0"/>
                      </a:rPr>
                      <m:t>0.3</m:t>
                    </m:r>
                    <m:r>
                      <a:rPr lang="en-US" sz="4800" b="0" i="0" dirty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4800" dirty="0">
                    <a:latin typeface="Segoe Pro" panose="020B0502040504020203" pitchFamily="34" charset="0"/>
                  </a:rPr>
                  <a:t>. </a:t>
                </a:r>
                <a:endParaRPr lang="en-US" sz="1600" dirty="0">
                  <a:solidFill>
                    <a:prstClr val="black"/>
                  </a:solidFill>
                  <a:latin typeface="Segoe Pro" panose="020B0502040504020203" pitchFamily="34" charset="0"/>
                </a:endParaRPr>
              </a:p>
              <a:p>
                <a:pPr lvl="0">
                  <a:spcAft>
                    <a:spcPts val="300"/>
                  </a:spcAft>
                </a:pPr>
                <a:endParaRPr lang="en-US" sz="1600" dirty="0">
                  <a:solidFill>
                    <a:prstClr val="black"/>
                  </a:solidFill>
                  <a:latin typeface="Segoe Pro" panose="020B0502040504020203" pitchFamily="34" charset="0"/>
                </a:endParaRPr>
              </a:p>
              <a:p>
                <a:pPr>
                  <a:spcAft>
                    <a:spcPts val="692"/>
                  </a:spcAft>
                </a:pPr>
                <a:r>
                  <a:rPr lang="en-US" sz="4800" dirty="0">
                    <a:latin typeface="Segoe Pro" panose="020B0502040504020203" pitchFamily="34" charset="0"/>
                  </a:rPr>
                  <a:t>RTA showed that argument preference was the main reason driving A’s score. </a:t>
                </a:r>
                <a:br>
                  <a:rPr lang="en-US" sz="4800" dirty="0">
                    <a:latin typeface="Segoe Pro" panose="020B0502040504020203" pitchFamily="34" charset="0"/>
                  </a:rPr>
                </a:br>
                <a:r>
                  <a:rPr lang="en-US" sz="4800" dirty="0">
                    <a:latin typeface="Segoe Pro" panose="020B0502040504020203" pitchFamily="34" charset="0"/>
                  </a:rPr>
                  <a:t>B and C were more critical of P2. Bias was prevalent, but not a factor (A sway).</a:t>
                </a:r>
              </a:p>
            </p:txBody>
          </p:sp>
        </mc:Choice>
        <mc:Fallback>
          <p:sp>
            <p:nvSpPr>
              <p:cNvPr id="1035" name="TextBox 1034">
                <a:extLst>
                  <a:ext uri="{FF2B5EF4-FFF2-40B4-BE49-F238E27FC236}">
                    <a16:creationId xmlns:a16="http://schemas.microsoft.com/office/drawing/2014/main" id="{6C4BE64B-ED84-0B94-467C-FA42A0FED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3419" y="4767926"/>
                <a:ext cx="10751029" cy="16937970"/>
              </a:xfrm>
              <a:prstGeom prst="rect">
                <a:avLst/>
              </a:prstGeom>
              <a:blipFill>
                <a:blip r:embed="rId16"/>
                <a:stretch>
                  <a:fillRect l="-2551" t="-828" r="-23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9" name="Picture 1038" descr="The image shows a bar chart comparing the percentage of beliefs changed by different groups (Audience Reporting) with categories including Human-ChatGPT, Human-LLM, and LLM-LLM.&#10;&#10;AI-generated content may be incorrect.">
            <a:extLst>
              <a:ext uri="{FF2B5EF4-FFF2-40B4-BE49-F238E27FC236}">
                <a16:creationId xmlns:a16="http://schemas.microsoft.com/office/drawing/2014/main" id="{5DE85D64-A210-C68B-0992-3F89A0D8637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377058" y="8498297"/>
            <a:ext cx="5513216" cy="2995808"/>
          </a:xfrm>
          <a:prstGeom prst="rect">
            <a:avLst/>
          </a:prstGeom>
        </p:spPr>
      </p:pic>
      <p:pic>
        <p:nvPicPr>
          <p:cNvPr id="1041" name="Picture 1040">
            <a:extLst>
              <a:ext uri="{FF2B5EF4-FFF2-40B4-BE49-F238E27FC236}">
                <a16:creationId xmlns:a16="http://schemas.microsoft.com/office/drawing/2014/main" id="{E031C710-8B7C-7C48-56DE-93DCC09C034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377058" y="14817892"/>
            <a:ext cx="5460059" cy="2417960"/>
          </a:xfrm>
          <a:prstGeom prst="rect">
            <a:avLst/>
          </a:prstGeom>
        </p:spPr>
      </p:pic>
      <p:pic>
        <p:nvPicPr>
          <p:cNvPr id="1037" name="Picture 1036">
            <a:extLst>
              <a:ext uri="{FF2B5EF4-FFF2-40B4-BE49-F238E27FC236}">
                <a16:creationId xmlns:a16="http://schemas.microsoft.com/office/drawing/2014/main" id="{748E22F7-3CBA-D581-B935-F6EF8C62540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875177" y="7144384"/>
            <a:ext cx="8529647" cy="1353912"/>
          </a:xfrm>
          <a:prstGeom prst="rect">
            <a:avLst/>
          </a:prstGeom>
        </p:spPr>
      </p:pic>
      <p:pic>
        <p:nvPicPr>
          <p:cNvPr id="1048" name="Picture 1047">
            <a:extLst>
              <a:ext uri="{FF2B5EF4-FFF2-40B4-BE49-F238E27FC236}">
                <a16:creationId xmlns:a16="http://schemas.microsoft.com/office/drawing/2014/main" id="{4EEF0C89-1559-81F4-3F1C-F6EDA4B054D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153704" y="12086052"/>
            <a:ext cx="5702493" cy="2518987"/>
          </a:xfrm>
          <a:prstGeom prst="rect">
            <a:avLst/>
          </a:prstGeom>
        </p:spPr>
      </p:pic>
      <p:pic>
        <p:nvPicPr>
          <p:cNvPr id="1050" name="Picture 1049">
            <a:extLst>
              <a:ext uri="{FF2B5EF4-FFF2-40B4-BE49-F238E27FC236}">
                <a16:creationId xmlns:a16="http://schemas.microsoft.com/office/drawing/2014/main" id="{E7B2E77E-5CDF-ED1C-F107-787CEB77306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475954" y="11085989"/>
            <a:ext cx="7203573" cy="1955255"/>
          </a:xfrm>
          <a:prstGeom prst="rect">
            <a:avLst/>
          </a:prstGeom>
        </p:spPr>
      </p:pic>
      <p:pic>
        <p:nvPicPr>
          <p:cNvPr id="1052" name="Picture 1051">
            <a:extLst>
              <a:ext uri="{FF2B5EF4-FFF2-40B4-BE49-F238E27FC236}">
                <a16:creationId xmlns:a16="http://schemas.microsoft.com/office/drawing/2014/main" id="{F812F335-DA9B-6065-F409-A427D81B1AF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371981" y="17684142"/>
            <a:ext cx="7273921" cy="318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787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3929</TotalTime>
  <Words>684</Words>
  <Application>Microsoft Office PowerPoint</Application>
  <PresentationFormat>Custom</PresentationFormat>
  <Paragraphs>83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Segoe Pro</vt:lpstr>
      <vt:lpstr>Segoe Pro Semibold</vt:lpstr>
      <vt:lpstr>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</dc:title>
  <dc:creator>Adrian de Wynter</dc:creator>
  <cp:lastModifiedBy>Adrian de Wynter</cp:lastModifiedBy>
  <cp:revision>130</cp:revision>
  <dcterms:created xsi:type="dcterms:W3CDTF">2025-01-21T03:47:53Z</dcterms:created>
  <dcterms:modified xsi:type="dcterms:W3CDTF">2026-06-13T03:09:08Z</dcterms:modified>
</cp:coreProperties>
</file>